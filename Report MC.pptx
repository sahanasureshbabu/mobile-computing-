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1" r:id="rId6"/>
    <p:sldId id="262" r:id="rId7"/>
    <p:sldId id="263" r:id="rId8"/>
    <p:sldId id="264" r:id="rId9"/>
    <p:sldId id="265" r:id="rId10"/>
    <p:sldId id="266" r:id="rId11"/>
    <p:sldId id="267"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90" d="100"/>
          <a:sy n="90" d="100"/>
        </p:scale>
        <p:origin x="398"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974A2F-B180-4ED7-B8B9-E6C599450217}" type="datetimeFigureOut">
              <a:rPr lang="en-IN" smtClean="0"/>
              <a:t>13-05-2025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07475A2-2532-4AB3-92A9-BAFB122CA3DD}" type="slidenum">
              <a:rPr lang="en-IN" smtClean="0"/>
              <a:t>‹#›</a:t>
            </a:fld>
            <a:endParaRPr lang="en-IN"/>
          </a:p>
        </p:txBody>
      </p:sp>
    </p:spTree>
    <p:extLst>
      <p:ext uri="{BB962C8B-B14F-4D97-AF65-F5344CB8AC3E}">
        <p14:creationId xmlns:p14="http://schemas.microsoft.com/office/powerpoint/2010/main" val="17346906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807475A2-2532-4AB3-92A9-BAFB122CA3DD}" type="slidenum">
              <a:rPr lang="en-IN" smtClean="0"/>
              <a:t>3</a:t>
            </a:fld>
            <a:endParaRPr lang="en-IN"/>
          </a:p>
        </p:txBody>
      </p:sp>
    </p:spTree>
    <p:extLst>
      <p:ext uri="{BB962C8B-B14F-4D97-AF65-F5344CB8AC3E}">
        <p14:creationId xmlns:p14="http://schemas.microsoft.com/office/powerpoint/2010/main" val="6250751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807475A2-2532-4AB3-92A9-BAFB122CA3DD}" type="slidenum">
              <a:rPr lang="en-IN" smtClean="0"/>
              <a:t>8</a:t>
            </a:fld>
            <a:endParaRPr lang="en-IN"/>
          </a:p>
        </p:txBody>
      </p:sp>
    </p:spTree>
    <p:extLst>
      <p:ext uri="{BB962C8B-B14F-4D97-AF65-F5344CB8AC3E}">
        <p14:creationId xmlns:p14="http://schemas.microsoft.com/office/powerpoint/2010/main" val="7706598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807475A2-2532-4AB3-92A9-BAFB122CA3DD}" type="slidenum">
              <a:rPr lang="en-IN" smtClean="0"/>
              <a:t>10</a:t>
            </a:fld>
            <a:endParaRPr lang="en-IN"/>
          </a:p>
        </p:txBody>
      </p:sp>
    </p:spTree>
    <p:extLst>
      <p:ext uri="{BB962C8B-B14F-4D97-AF65-F5344CB8AC3E}">
        <p14:creationId xmlns:p14="http://schemas.microsoft.com/office/powerpoint/2010/main" val="22964506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9559FD-AF46-73AE-7960-BEAD74975D4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B77FF700-2889-8B6D-5D17-B55BB7CC8E8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78FCABB4-B7C9-A63B-AD0C-8FE8F997877D}"/>
              </a:ext>
            </a:extLst>
          </p:cNvPr>
          <p:cNvSpPr>
            <a:spLocks noGrp="1"/>
          </p:cNvSpPr>
          <p:nvPr>
            <p:ph type="dt" sz="half" idx="10"/>
          </p:nvPr>
        </p:nvSpPr>
        <p:spPr/>
        <p:txBody>
          <a:bodyPr/>
          <a:lstStyle/>
          <a:p>
            <a:fld id="{D6987FBA-33C2-41EC-BDA0-E219BF6A56A5}" type="datetimeFigureOut">
              <a:rPr lang="en-IN" smtClean="0"/>
              <a:t>13-05-2025</a:t>
            </a:fld>
            <a:endParaRPr lang="en-IN"/>
          </a:p>
        </p:txBody>
      </p:sp>
      <p:sp>
        <p:nvSpPr>
          <p:cNvPr id="5" name="Footer Placeholder 4">
            <a:extLst>
              <a:ext uri="{FF2B5EF4-FFF2-40B4-BE49-F238E27FC236}">
                <a16:creationId xmlns:a16="http://schemas.microsoft.com/office/drawing/2014/main" id="{151A2523-9DD8-CD21-183C-7671DF9356A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2BA2BD0-4A1C-D13F-6570-8496EC1D0DCD}"/>
              </a:ext>
            </a:extLst>
          </p:cNvPr>
          <p:cNvSpPr>
            <a:spLocks noGrp="1"/>
          </p:cNvSpPr>
          <p:nvPr>
            <p:ph type="sldNum" sz="quarter" idx="12"/>
          </p:nvPr>
        </p:nvSpPr>
        <p:spPr/>
        <p:txBody>
          <a:bodyPr/>
          <a:lstStyle/>
          <a:p>
            <a:fld id="{5D105B4B-047F-4C5C-8334-938EE3205E3F}" type="slidenum">
              <a:rPr lang="en-IN" smtClean="0"/>
              <a:t>‹#›</a:t>
            </a:fld>
            <a:endParaRPr lang="en-IN"/>
          </a:p>
        </p:txBody>
      </p:sp>
    </p:spTree>
    <p:extLst>
      <p:ext uri="{BB962C8B-B14F-4D97-AF65-F5344CB8AC3E}">
        <p14:creationId xmlns:p14="http://schemas.microsoft.com/office/powerpoint/2010/main" val="2568012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EF1ED-6B98-E53F-E79D-114626D2D791}"/>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D92CEDA2-F6D6-0BED-8CC7-5F48279D943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14B2025-021D-EFC0-0925-75869D59268D}"/>
              </a:ext>
            </a:extLst>
          </p:cNvPr>
          <p:cNvSpPr>
            <a:spLocks noGrp="1"/>
          </p:cNvSpPr>
          <p:nvPr>
            <p:ph type="dt" sz="half" idx="10"/>
          </p:nvPr>
        </p:nvSpPr>
        <p:spPr/>
        <p:txBody>
          <a:bodyPr/>
          <a:lstStyle/>
          <a:p>
            <a:fld id="{D6987FBA-33C2-41EC-BDA0-E219BF6A56A5}" type="datetimeFigureOut">
              <a:rPr lang="en-IN" smtClean="0"/>
              <a:t>13-05-2025</a:t>
            </a:fld>
            <a:endParaRPr lang="en-IN"/>
          </a:p>
        </p:txBody>
      </p:sp>
      <p:sp>
        <p:nvSpPr>
          <p:cNvPr id="5" name="Footer Placeholder 4">
            <a:extLst>
              <a:ext uri="{FF2B5EF4-FFF2-40B4-BE49-F238E27FC236}">
                <a16:creationId xmlns:a16="http://schemas.microsoft.com/office/drawing/2014/main" id="{E94E515E-53FC-E95D-E36F-C5E7E203E4D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1AB6351-4BB1-3BF7-1D2B-8A447A49ACDA}"/>
              </a:ext>
            </a:extLst>
          </p:cNvPr>
          <p:cNvSpPr>
            <a:spLocks noGrp="1"/>
          </p:cNvSpPr>
          <p:nvPr>
            <p:ph type="sldNum" sz="quarter" idx="12"/>
          </p:nvPr>
        </p:nvSpPr>
        <p:spPr/>
        <p:txBody>
          <a:bodyPr/>
          <a:lstStyle/>
          <a:p>
            <a:fld id="{5D105B4B-047F-4C5C-8334-938EE3205E3F}" type="slidenum">
              <a:rPr lang="en-IN" smtClean="0"/>
              <a:t>‹#›</a:t>
            </a:fld>
            <a:endParaRPr lang="en-IN"/>
          </a:p>
        </p:txBody>
      </p:sp>
    </p:spTree>
    <p:extLst>
      <p:ext uri="{BB962C8B-B14F-4D97-AF65-F5344CB8AC3E}">
        <p14:creationId xmlns:p14="http://schemas.microsoft.com/office/powerpoint/2010/main" val="29812267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31858-F903-8F9F-4508-957D7226F10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ECB54C65-5726-1836-C891-40E33A19854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5A24678-12EE-730B-F4DF-7A5AC2E95BD5}"/>
              </a:ext>
            </a:extLst>
          </p:cNvPr>
          <p:cNvSpPr>
            <a:spLocks noGrp="1"/>
          </p:cNvSpPr>
          <p:nvPr>
            <p:ph type="dt" sz="half" idx="10"/>
          </p:nvPr>
        </p:nvSpPr>
        <p:spPr/>
        <p:txBody>
          <a:bodyPr/>
          <a:lstStyle/>
          <a:p>
            <a:fld id="{D6987FBA-33C2-41EC-BDA0-E219BF6A56A5}" type="datetimeFigureOut">
              <a:rPr lang="en-IN" smtClean="0"/>
              <a:t>13-05-2025</a:t>
            </a:fld>
            <a:endParaRPr lang="en-IN"/>
          </a:p>
        </p:txBody>
      </p:sp>
      <p:sp>
        <p:nvSpPr>
          <p:cNvPr id="5" name="Footer Placeholder 4">
            <a:extLst>
              <a:ext uri="{FF2B5EF4-FFF2-40B4-BE49-F238E27FC236}">
                <a16:creationId xmlns:a16="http://schemas.microsoft.com/office/drawing/2014/main" id="{D3CA4012-53F0-86F0-6A8A-02E1B8CE462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964FD9A-F0F2-3F2B-E36D-FAEE4439E9A0}"/>
              </a:ext>
            </a:extLst>
          </p:cNvPr>
          <p:cNvSpPr>
            <a:spLocks noGrp="1"/>
          </p:cNvSpPr>
          <p:nvPr>
            <p:ph type="sldNum" sz="quarter" idx="12"/>
          </p:nvPr>
        </p:nvSpPr>
        <p:spPr/>
        <p:txBody>
          <a:bodyPr/>
          <a:lstStyle/>
          <a:p>
            <a:fld id="{5D105B4B-047F-4C5C-8334-938EE3205E3F}" type="slidenum">
              <a:rPr lang="en-IN" smtClean="0"/>
              <a:t>‹#›</a:t>
            </a:fld>
            <a:endParaRPr lang="en-IN"/>
          </a:p>
        </p:txBody>
      </p:sp>
    </p:spTree>
    <p:extLst>
      <p:ext uri="{BB962C8B-B14F-4D97-AF65-F5344CB8AC3E}">
        <p14:creationId xmlns:p14="http://schemas.microsoft.com/office/powerpoint/2010/main" val="18095605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0730F2-FFA1-6A8B-7D87-9D2A754C8C1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C30FE64-23AD-87B2-2755-196F2643D8B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AF1F33C1-F874-C4EB-DF3A-FBCAF6B0F92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257AFECC-BB00-32D4-1ACA-2BA4368F93B2}"/>
              </a:ext>
            </a:extLst>
          </p:cNvPr>
          <p:cNvSpPr>
            <a:spLocks noGrp="1"/>
          </p:cNvSpPr>
          <p:nvPr>
            <p:ph type="dt" sz="half" idx="10"/>
          </p:nvPr>
        </p:nvSpPr>
        <p:spPr/>
        <p:txBody>
          <a:bodyPr/>
          <a:lstStyle/>
          <a:p>
            <a:fld id="{D6987FBA-33C2-41EC-BDA0-E219BF6A56A5}" type="datetimeFigureOut">
              <a:rPr lang="en-IN" smtClean="0"/>
              <a:t>13-05-2025</a:t>
            </a:fld>
            <a:endParaRPr lang="en-IN"/>
          </a:p>
        </p:txBody>
      </p:sp>
      <p:sp>
        <p:nvSpPr>
          <p:cNvPr id="6" name="Footer Placeholder 5">
            <a:extLst>
              <a:ext uri="{FF2B5EF4-FFF2-40B4-BE49-F238E27FC236}">
                <a16:creationId xmlns:a16="http://schemas.microsoft.com/office/drawing/2014/main" id="{BF197598-D9CE-71AE-83E7-E8A66A9C551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9ACB82A-1B88-5A75-4467-FE3DEE388785}"/>
              </a:ext>
            </a:extLst>
          </p:cNvPr>
          <p:cNvSpPr>
            <a:spLocks noGrp="1"/>
          </p:cNvSpPr>
          <p:nvPr>
            <p:ph type="sldNum" sz="quarter" idx="12"/>
          </p:nvPr>
        </p:nvSpPr>
        <p:spPr/>
        <p:txBody>
          <a:bodyPr/>
          <a:lstStyle/>
          <a:p>
            <a:fld id="{5D105B4B-047F-4C5C-8334-938EE3205E3F}" type="slidenum">
              <a:rPr lang="en-IN" smtClean="0"/>
              <a:t>‹#›</a:t>
            </a:fld>
            <a:endParaRPr lang="en-IN"/>
          </a:p>
        </p:txBody>
      </p:sp>
    </p:spTree>
    <p:extLst>
      <p:ext uri="{BB962C8B-B14F-4D97-AF65-F5344CB8AC3E}">
        <p14:creationId xmlns:p14="http://schemas.microsoft.com/office/powerpoint/2010/main" val="37572171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D5BB39-41BA-FBDF-5C80-C61C691F4FBD}"/>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D3C281CC-8C8E-21E7-7D30-2B9EA29E480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668DF5E-AC8C-1360-A415-4EEA61CFD10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78E8C30-5262-5E42-12F8-201C083A75A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5A3F8D0-3FCA-CE56-3F44-07A5EFC23BC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92622B23-E3B8-9E6B-589F-46FDE9750E38}"/>
              </a:ext>
            </a:extLst>
          </p:cNvPr>
          <p:cNvSpPr>
            <a:spLocks noGrp="1"/>
          </p:cNvSpPr>
          <p:nvPr>
            <p:ph type="dt" sz="half" idx="10"/>
          </p:nvPr>
        </p:nvSpPr>
        <p:spPr/>
        <p:txBody>
          <a:bodyPr/>
          <a:lstStyle/>
          <a:p>
            <a:fld id="{D6987FBA-33C2-41EC-BDA0-E219BF6A56A5}" type="datetimeFigureOut">
              <a:rPr lang="en-IN" smtClean="0"/>
              <a:t>13-05-2025</a:t>
            </a:fld>
            <a:endParaRPr lang="en-IN"/>
          </a:p>
        </p:txBody>
      </p:sp>
      <p:sp>
        <p:nvSpPr>
          <p:cNvPr id="8" name="Footer Placeholder 7">
            <a:extLst>
              <a:ext uri="{FF2B5EF4-FFF2-40B4-BE49-F238E27FC236}">
                <a16:creationId xmlns:a16="http://schemas.microsoft.com/office/drawing/2014/main" id="{7E780A48-D353-C07E-3F5F-1109B6E9A129}"/>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AC800C36-86E1-613E-2599-EEE48E61B3F4}"/>
              </a:ext>
            </a:extLst>
          </p:cNvPr>
          <p:cNvSpPr>
            <a:spLocks noGrp="1"/>
          </p:cNvSpPr>
          <p:nvPr>
            <p:ph type="sldNum" sz="quarter" idx="12"/>
          </p:nvPr>
        </p:nvSpPr>
        <p:spPr/>
        <p:txBody>
          <a:bodyPr/>
          <a:lstStyle/>
          <a:p>
            <a:fld id="{5D105B4B-047F-4C5C-8334-938EE3205E3F}" type="slidenum">
              <a:rPr lang="en-IN" smtClean="0"/>
              <a:t>‹#›</a:t>
            </a:fld>
            <a:endParaRPr lang="en-IN"/>
          </a:p>
        </p:txBody>
      </p:sp>
    </p:spTree>
    <p:extLst>
      <p:ext uri="{BB962C8B-B14F-4D97-AF65-F5344CB8AC3E}">
        <p14:creationId xmlns:p14="http://schemas.microsoft.com/office/powerpoint/2010/main" val="8567072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A3BE19-8804-B0A7-286D-86B9DFC8460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297722AC-1B7B-C9FD-1744-88532C8D5B34}"/>
              </a:ext>
            </a:extLst>
          </p:cNvPr>
          <p:cNvSpPr>
            <a:spLocks noGrp="1"/>
          </p:cNvSpPr>
          <p:nvPr>
            <p:ph type="dt" sz="half" idx="10"/>
          </p:nvPr>
        </p:nvSpPr>
        <p:spPr/>
        <p:txBody>
          <a:bodyPr/>
          <a:lstStyle/>
          <a:p>
            <a:fld id="{D6987FBA-33C2-41EC-BDA0-E219BF6A56A5}" type="datetimeFigureOut">
              <a:rPr lang="en-IN" smtClean="0"/>
              <a:t>13-05-2025</a:t>
            </a:fld>
            <a:endParaRPr lang="en-IN"/>
          </a:p>
        </p:txBody>
      </p:sp>
      <p:sp>
        <p:nvSpPr>
          <p:cNvPr id="4" name="Footer Placeholder 3">
            <a:extLst>
              <a:ext uri="{FF2B5EF4-FFF2-40B4-BE49-F238E27FC236}">
                <a16:creationId xmlns:a16="http://schemas.microsoft.com/office/drawing/2014/main" id="{2CF4DD33-27EA-6174-2903-75A15AD3494D}"/>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1EF3FADC-20D4-A7C7-B8C9-2836ADE6A01B}"/>
              </a:ext>
            </a:extLst>
          </p:cNvPr>
          <p:cNvSpPr>
            <a:spLocks noGrp="1"/>
          </p:cNvSpPr>
          <p:nvPr>
            <p:ph type="sldNum" sz="quarter" idx="12"/>
          </p:nvPr>
        </p:nvSpPr>
        <p:spPr/>
        <p:txBody>
          <a:bodyPr/>
          <a:lstStyle/>
          <a:p>
            <a:fld id="{5D105B4B-047F-4C5C-8334-938EE3205E3F}" type="slidenum">
              <a:rPr lang="en-IN" smtClean="0"/>
              <a:t>‹#›</a:t>
            </a:fld>
            <a:endParaRPr lang="en-IN"/>
          </a:p>
        </p:txBody>
      </p:sp>
    </p:spTree>
    <p:extLst>
      <p:ext uri="{BB962C8B-B14F-4D97-AF65-F5344CB8AC3E}">
        <p14:creationId xmlns:p14="http://schemas.microsoft.com/office/powerpoint/2010/main" val="42940145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CE1CECA-D70C-7DA5-9004-AC1D8DD2959A}"/>
              </a:ext>
            </a:extLst>
          </p:cNvPr>
          <p:cNvSpPr>
            <a:spLocks noGrp="1"/>
          </p:cNvSpPr>
          <p:nvPr>
            <p:ph type="dt" sz="half" idx="10"/>
          </p:nvPr>
        </p:nvSpPr>
        <p:spPr/>
        <p:txBody>
          <a:bodyPr/>
          <a:lstStyle/>
          <a:p>
            <a:fld id="{D6987FBA-33C2-41EC-BDA0-E219BF6A56A5}" type="datetimeFigureOut">
              <a:rPr lang="en-IN" smtClean="0"/>
              <a:t>13-05-2025</a:t>
            </a:fld>
            <a:endParaRPr lang="en-IN"/>
          </a:p>
        </p:txBody>
      </p:sp>
      <p:sp>
        <p:nvSpPr>
          <p:cNvPr id="3" name="Footer Placeholder 2">
            <a:extLst>
              <a:ext uri="{FF2B5EF4-FFF2-40B4-BE49-F238E27FC236}">
                <a16:creationId xmlns:a16="http://schemas.microsoft.com/office/drawing/2014/main" id="{F4CEBC5B-9624-9752-55D8-9F08D0C015EB}"/>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18D4FD41-8BCB-0D6E-9B15-A2E2193E3EA5}"/>
              </a:ext>
            </a:extLst>
          </p:cNvPr>
          <p:cNvSpPr>
            <a:spLocks noGrp="1"/>
          </p:cNvSpPr>
          <p:nvPr>
            <p:ph type="sldNum" sz="quarter" idx="12"/>
          </p:nvPr>
        </p:nvSpPr>
        <p:spPr/>
        <p:txBody>
          <a:bodyPr/>
          <a:lstStyle/>
          <a:p>
            <a:fld id="{5D105B4B-047F-4C5C-8334-938EE3205E3F}" type="slidenum">
              <a:rPr lang="en-IN" smtClean="0"/>
              <a:t>‹#›</a:t>
            </a:fld>
            <a:endParaRPr lang="en-IN"/>
          </a:p>
        </p:txBody>
      </p:sp>
    </p:spTree>
    <p:extLst>
      <p:ext uri="{BB962C8B-B14F-4D97-AF65-F5344CB8AC3E}">
        <p14:creationId xmlns:p14="http://schemas.microsoft.com/office/powerpoint/2010/main" val="5121400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559C6-4A78-9F34-4888-3EE95C8B68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523071B6-C2EA-8720-3A2F-1A680532087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0F2F82CD-FED5-A205-7ED5-ACF60599F7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4AD8E5-45EB-2BD4-5140-12B5FDD0DA99}"/>
              </a:ext>
            </a:extLst>
          </p:cNvPr>
          <p:cNvSpPr>
            <a:spLocks noGrp="1"/>
          </p:cNvSpPr>
          <p:nvPr>
            <p:ph type="dt" sz="half" idx="10"/>
          </p:nvPr>
        </p:nvSpPr>
        <p:spPr/>
        <p:txBody>
          <a:bodyPr/>
          <a:lstStyle/>
          <a:p>
            <a:fld id="{D6987FBA-33C2-41EC-BDA0-E219BF6A56A5}" type="datetimeFigureOut">
              <a:rPr lang="en-IN" smtClean="0"/>
              <a:t>13-05-2025</a:t>
            </a:fld>
            <a:endParaRPr lang="en-IN"/>
          </a:p>
        </p:txBody>
      </p:sp>
      <p:sp>
        <p:nvSpPr>
          <p:cNvPr id="6" name="Footer Placeholder 5">
            <a:extLst>
              <a:ext uri="{FF2B5EF4-FFF2-40B4-BE49-F238E27FC236}">
                <a16:creationId xmlns:a16="http://schemas.microsoft.com/office/drawing/2014/main" id="{4F6887C4-BF44-DED5-D7CC-5F68BCE2050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776B805-85FB-13CD-7409-AF5306A1CFA5}"/>
              </a:ext>
            </a:extLst>
          </p:cNvPr>
          <p:cNvSpPr>
            <a:spLocks noGrp="1"/>
          </p:cNvSpPr>
          <p:nvPr>
            <p:ph type="sldNum" sz="quarter" idx="12"/>
          </p:nvPr>
        </p:nvSpPr>
        <p:spPr/>
        <p:txBody>
          <a:bodyPr/>
          <a:lstStyle/>
          <a:p>
            <a:fld id="{5D105B4B-047F-4C5C-8334-938EE3205E3F}" type="slidenum">
              <a:rPr lang="en-IN" smtClean="0"/>
              <a:t>‹#›</a:t>
            </a:fld>
            <a:endParaRPr lang="en-IN"/>
          </a:p>
        </p:txBody>
      </p:sp>
    </p:spTree>
    <p:extLst>
      <p:ext uri="{BB962C8B-B14F-4D97-AF65-F5344CB8AC3E}">
        <p14:creationId xmlns:p14="http://schemas.microsoft.com/office/powerpoint/2010/main" val="9670092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B7321D-4B82-7B9B-AACB-707714855F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77781ABC-359A-01F7-523D-A114C614C28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B66933B0-1A71-595D-A9BB-F69B42EC9C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0D2D83-FC77-2C3A-32C2-DC5007895DE8}"/>
              </a:ext>
            </a:extLst>
          </p:cNvPr>
          <p:cNvSpPr>
            <a:spLocks noGrp="1"/>
          </p:cNvSpPr>
          <p:nvPr>
            <p:ph type="dt" sz="half" idx="10"/>
          </p:nvPr>
        </p:nvSpPr>
        <p:spPr/>
        <p:txBody>
          <a:bodyPr/>
          <a:lstStyle/>
          <a:p>
            <a:fld id="{D6987FBA-33C2-41EC-BDA0-E219BF6A56A5}" type="datetimeFigureOut">
              <a:rPr lang="en-IN" smtClean="0"/>
              <a:t>13-05-2025</a:t>
            </a:fld>
            <a:endParaRPr lang="en-IN"/>
          </a:p>
        </p:txBody>
      </p:sp>
      <p:sp>
        <p:nvSpPr>
          <p:cNvPr id="6" name="Footer Placeholder 5">
            <a:extLst>
              <a:ext uri="{FF2B5EF4-FFF2-40B4-BE49-F238E27FC236}">
                <a16:creationId xmlns:a16="http://schemas.microsoft.com/office/drawing/2014/main" id="{D87698C6-E111-9B2D-1111-85A84819CE8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E8B7B07-2CBF-BFCE-C776-0203FD7306F3}"/>
              </a:ext>
            </a:extLst>
          </p:cNvPr>
          <p:cNvSpPr>
            <a:spLocks noGrp="1"/>
          </p:cNvSpPr>
          <p:nvPr>
            <p:ph type="sldNum" sz="quarter" idx="12"/>
          </p:nvPr>
        </p:nvSpPr>
        <p:spPr/>
        <p:txBody>
          <a:bodyPr/>
          <a:lstStyle/>
          <a:p>
            <a:fld id="{5D105B4B-047F-4C5C-8334-938EE3205E3F}" type="slidenum">
              <a:rPr lang="en-IN" smtClean="0"/>
              <a:t>‹#›</a:t>
            </a:fld>
            <a:endParaRPr lang="en-IN"/>
          </a:p>
        </p:txBody>
      </p:sp>
    </p:spTree>
    <p:extLst>
      <p:ext uri="{BB962C8B-B14F-4D97-AF65-F5344CB8AC3E}">
        <p14:creationId xmlns:p14="http://schemas.microsoft.com/office/powerpoint/2010/main" val="19701445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2CA25A-CFF1-F870-5C1E-288C2B0773AB}"/>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A542EB3-9BA7-3E2A-F7B7-38F7F49BC1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A11D80E-5699-6B9C-8215-FCC71E14D580}"/>
              </a:ext>
            </a:extLst>
          </p:cNvPr>
          <p:cNvSpPr>
            <a:spLocks noGrp="1"/>
          </p:cNvSpPr>
          <p:nvPr>
            <p:ph type="dt" sz="half" idx="10"/>
          </p:nvPr>
        </p:nvSpPr>
        <p:spPr/>
        <p:txBody>
          <a:bodyPr/>
          <a:lstStyle/>
          <a:p>
            <a:fld id="{D6987FBA-33C2-41EC-BDA0-E219BF6A56A5}" type="datetimeFigureOut">
              <a:rPr lang="en-IN" smtClean="0"/>
              <a:t>13-05-2025</a:t>
            </a:fld>
            <a:endParaRPr lang="en-IN"/>
          </a:p>
        </p:txBody>
      </p:sp>
      <p:sp>
        <p:nvSpPr>
          <p:cNvPr id="5" name="Footer Placeholder 4">
            <a:extLst>
              <a:ext uri="{FF2B5EF4-FFF2-40B4-BE49-F238E27FC236}">
                <a16:creationId xmlns:a16="http://schemas.microsoft.com/office/drawing/2014/main" id="{D5F03E10-FD34-FB14-E6D0-DDE565E21AD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C0964C-8FA0-7BC4-D791-530D3A14ED88}"/>
              </a:ext>
            </a:extLst>
          </p:cNvPr>
          <p:cNvSpPr>
            <a:spLocks noGrp="1"/>
          </p:cNvSpPr>
          <p:nvPr>
            <p:ph type="sldNum" sz="quarter" idx="12"/>
          </p:nvPr>
        </p:nvSpPr>
        <p:spPr/>
        <p:txBody>
          <a:bodyPr/>
          <a:lstStyle/>
          <a:p>
            <a:fld id="{5D105B4B-047F-4C5C-8334-938EE3205E3F}" type="slidenum">
              <a:rPr lang="en-IN" smtClean="0"/>
              <a:t>‹#›</a:t>
            </a:fld>
            <a:endParaRPr lang="en-IN"/>
          </a:p>
        </p:txBody>
      </p:sp>
    </p:spTree>
    <p:extLst>
      <p:ext uri="{BB962C8B-B14F-4D97-AF65-F5344CB8AC3E}">
        <p14:creationId xmlns:p14="http://schemas.microsoft.com/office/powerpoint/2010/main" val="7684114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EED07B9-DE57-CCFA-BB81-4B33409D252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7F11B643-D68A-A918-38BF-30822CEB815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71B85D0-BC3C-98B5-C7F2-DDAEEB44B821}"/>
              </a:ext>
            </a:extLst>
          </p:cNvPr>
          <p:cNvSpPr>
            <a:spLocks noGrp="1"/>
          </p:cNvSpPr>
          <p:nvPr>
            <p:ph type="dt" sz="half" idx="10"/>
          </p:nvPr>
        </p:nvSpPr>
        <p:spPr/>
        <p:txBody>
          <a:bodyPr/>
          <a:lstStyle/>
          <a:p>
            <a:fld id="{D6987FBA-33C2-41EC-BDA0-E219BF6A56A5}" type="datetimeFigureOut">
              <a:rPr lang="en-IN" smtClean="0"/>
              <a:t>13-05-2025</a:t>
            </a:fld>
            <a:endParaRPr lang="en-IN"/>
          </a:p>
        </p:txBody>
      </p:sp>
      <p:sp>
        <p:nvSpPr>
          <p:cNvPr id="5" name="Footer Placeholder 4">
            <a:extLst>
              <a:ext uri="{FF2B5EF4-FFF2-40B4-BE49-F238E27FC236}">
                <a16:creationId xmlns:a16="http://schemas.microsoft.com/office/drawing/2014/main" id="{6DEA5370-7588-6DB5-3D07-AA3A7F6621D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F19EA0C-8CAB-1E67-F682-0388D85055D4}"/>
              </a:ext>
            </a:extLst>
          </p:cNvPr>
          <p:cNvSpPr>
            <a:spLocks noGrp="1"/>
          </p:cNvSpPr>
          <p:nvPr>
            <p:ph type="sldNum" sz="quarter" idx="12"/>
          </p:nvPr>
        </p:nvSpPr>
        <p:spPr/>
        <p:txBody>
          <a:bodyPr/>
          <a:lstStyle/>
          <a:p>
            <a:fld id="{5D105B4B-047F-4C5C-8334-938EE3205E3F}" type="slidenum">
              <a:rPr lang="en-IN" smtClean="0"/>
              <a:t>‹#›</a:t>
            </a:fld>
            <a:endParaRPr lang="en-IN"/>
          </a:p>
        </p:txBody>
      </p:sp>
    </p:spTree>
    <p:extLst>
      <p:ext uri="{BB962C8B-B14F-4D97-AF65-F5344CB8AC3E}">
        <p14:creationId xmlns:p14="http://schemas.microsoft.com/office/powerpoint/2010/main" val="21107428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75D7786-33DB-0842-3CB2-5FC38B0657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DA852081-3204-C67E-4E1F-A85C7C73B1B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1BB1C22-0A72-9106-D94A-B7341973753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6987FBA-33C2-41EC-BDA0-E219BF6A56A5}" type="datetimeFigureOut">
              <a:rPr lang="en-IN" smtClean="0"/>
              <a:t>13-05-2025</a:t>
            </a:fld>
            <a:endParaRPr lang="en-IN"/>
          </a:p>
        </p:txBody>
      </p:sp>
      <p:sp>
        <p:nvSpPr>
          <p:cNvPr id="5" name="Footer Placeholder 4">
            <a:extLst>
              <a:ext uri="{FF2B5EF4-FFF2-40B4-BE49-F238E27FC236}">
                <a16:creationId xmlns:a16="http://schemas.microsoft.com/office/drawing/2014/main" id="{A751CE8B-FB7F-1CB0-B0DF-E4669635D4D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9325D32B-9F79-9506-84C0-2955895BD92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D105B4B-047F-4C5C-8334-938EE3205E3F}" type="slidenum">
              <a:rPr lang="en-IN" smtClean="0"/>
              <a:t>‹#›</a:t>
            </a:fld>
            <a:endParaRPr lang="en-IN"/>
          </a:p>
        </p:txBody>
      </p:sp>
    </p:spTree>
    <p:extLst>
      <p:ext uri="{BB962C8B-B14F-4D97-AF65-F5344CB8AC3E}">
        <p14:creationId xmlns:p14="http://schemas.microsoft.com/office/powerpoint/2010/main" val="27929914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0ADEA-23B8-23FF-1288-FC24E6592435}"/>
              </a:ext>
            </a:extLst>
          </p:cNvPr>
          <p:cNvSpPr>
            <a:spLocks noGrp="1"/>
          </p:cNvSpPr>
          <p:nvPr>
            <p:ph type="ctrTitle"/>
          </p:nvPr>
        </p:nvSpPr>
        <p:spPr>
          <a:xfrm>
            <a:off x="1370203" y="1324005"/>
            <a:ext cx="9144000" cy="949643"/>
          </a:xfrm>
        </p:spPr>
        <p:txBody>
          <a:bodyPr>
            <a:normAutofit fontScale="90000"/>
          </a:bodyPr>
          <a:lstStyle/>
          <a:p>
            <a:r>
              <a:rPr lang="en-US" sz="3500" dirty="0">
                <a:latin typeface="Times New Roman" panose="02020603050405020304" pitchFamily="18" charset="0"/>
                <a:cs typeface="Times New Roman" panose="02020603050405020304" pitchFamily="18" charset="0"/>
              </a:rPr>
              <a:t>Real-time Bus Tracking System for Campus Transport</a:t>
            </a:r>
            <a:endParaRPr lang="en-IN" sz="3500"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21E6A9D0-003F-02BC-A17A-00A8E2E23F81}"/>
              </a:ext>
            </a:extLst>
          </p:cNvPr>
          <p:cNvSpPr>
            <a:spLocks noGrp="1"/>
          </p:cNvSpPr>
          <p:nvPr>
            <p:ph type="subTitle" idx="1"/>
          </p:nvPr>
        </p:nvSpPr>
        <p:spPr>
          <a:xfrm>
            <a:off x="1154853" y="2453958"/>
            <a:ext cx="9144000" cy="3520122"/>
          </a:xfrm>
        </p:spPr>
        <p:txBody>
          <a:bodyPr>
            <a:normAutofit lnSpcReduction="10000"/>
          </a:bodyPr>
          <a:lstStyle/>
          <a:p>
            <a:pPr>
              <a:lnSpc>
                <a:spcPct val="150000"/>
              </a:lnSpc>
            </a:pPr>
            <a:r>
              <a:rPr lang="en-US" sz="2800" dirty="0">
                <a:solidFill>
                  <a:schemeClr val="tx1"/>
                </a:solidFill>
                <a:latin typeface="Times New Roman" panose="02020603050405020304" pitchFamily="18" charset="0"/>
                <a:cs typeface="Times New Roman" panose="02020603050405020304" pitchFamily="18" charset="0"/>
              </a:rPr>
              <a:t>Presented by:</a:t>
            </a:r>
            <a:br>
              <a:rPr lang="en-US" sz="2800" dirty="0">
                <a:solidFill>
                  <a:schemeClr val="tx1"/>
                </a:solidFill>
                <a:latin typeface="Times New Roman" panose="02020603050405020304" pitchFamily="18" charset="0"/>
                <a:cs typeface="Times New Roman" panose="02020603050405020304" pitchFamily="18" charset="0"/>
              </a:rPr>
            </a:br>
            <a:r>
              <a:rPr lang="en-US" sz="2800" dirty="0">
                <a:latin typeface="Times New Roman" panose="02020603050405020304" pitchFamily="18" charset="0"/>
                <a:cs typeface="Times New Roman" panose="02020603050405020304" pitchFamily="18" charset="0"/>
              </a:rPr>
              <a:t>S.SAHANA</a:t>
            </a:r>
            <a:br>
              <a:rPr lang="en-US" sz="2800" dirty="0">
                <a:solidFill>
                  <a:schemeClr val="tx1"/>
                </a:solidFill>
                <a:latin typeface="Times New Roman" panose="02020603050405020304" pitchFamily="18" charset="0"/>
                <a:cs typeface="Times New Roman" panose="02020603050405020304" pitchFamily="18" charset="0"/>
              </a:rPr>
            </a:br>
            <a:r>
              <a:rPr lang="en-US" sz="2800" dirty="0">
                <a:solidFill>
                  <a:schemeClr val="tx1"/>
                </a:solidFill>
                <a:latin typeface="Times New Roman" panose="02020603050405020304" pitchFamily="18" charset="0"/>
                <a:cs typeface="Times New Roman" panose="02020603050405020304" pitchFamily="18" charset="0"/>
              </a:rPr>
              <a:t>192321131</a:t>
            </a:r>
          </a:p>
          <a:p>
            <a:pPr>
              <a:lnSpc>
                <a:spcPct val="150000"/>
              </a:lnSpc>
            </a:pPr>
            <a:r>
              <a:rPr lang="en-US" sz="2800" dirty="0">
                <a:solidFill>
                  <a:schemeClr val="tx1"/>
                </a:solidFill>
                <a:latin typeface="Times New Roman" panose="02020603050405020304" pitchFamily="18" charset="0"/>
                <a:cs typeface="Times New Roman" panose="02020603050405020304" pitchFamily="18" charset="0"/>
              </a:rPr>
              <a:t>ITA0302-MOBILE COMPUTING FOR 5G TECHNOLOGY</a:t>
            </a:r>
          </a:p>
          <a:p>
            <a:pPr>
              <a:lnSpc>
                <a:spcPct val="150000"/>
              </a:lnSpc>
            </a:pPr>
            <a:r>
              <a:rPr lang="en-IN" sz="2800" dirty="0">
                <a:solidFill>
                  <a:schemeClr val="tx1"/>
                </a:solidFill>
                <a:latin typeface="Times New Roman" panose="02020603050405020304" pitchFamily="18" charset="0"/>
                <a:cs typeface="Times New Roman" panose="02020603050405020304" pitchFamily="18" charset="0"/>
              </a:rPr>
              <a:t>Date:</a:t>
            </a:r>
            <a:r>
              <a:rPr lang="en-IN" sz="2800" spc="-100" dirty="0">
                <a:solidFill>
                  <a:schemeClr val="tx1"/>
                </a:solidFill>
                <a:latin typeface="Times New Roman" panose="02020603050405020304" pitchFamily="18" charset="0"/>
                <a:cs typeface="Times New Roman" panose="02020603050405020304" pitchFamily="18" charset="0"/>
              </a:rPr>
              <a:t> </a:t>
            </a:r>
            <a:r>
              <a:rPr lang="en-IN" sz="2800" spc="-10" dirty="0">
                <a:latin typeface="Times New Roman" panose="02020603050405020304" pitchFamily="18" charset="0"/>
                <a:cs typeface="Times New Roman" panose="02020603050405020304" pitchFamily="18" charset="0"/>
              </a:rPr>
              <a:t>14</a:t>
            </a:r>
            <a:r>
              <a:rPr lang="en-IN" sz="2800" spc="-10" dirty="0">
                <a:solidFill>
                  <a:schemeClr val="tx1"/>
                </a:solidFill>
                <a:latin typeface="Times New Roman" panose="02020603050405020304" pitchFamily="18" charset="0"/>
                <a:cs typeface="Times New Roman" panose="02020603050405020304" pitchFamily="18" charset="0"/>
              </a:rPr>
              <a:t>/05/2025</a:t>
            </a:r>
            <a:endParaRPr lang="en-IN" sz="2800" dirty="0">
              <a:solidFill>
                <a:schemeClr val="tx1"/>
              </a:solidFill>
              <a:latin typeface="Times New Roman" panose="02020603050405020304" pitchFamily="18" charset="0"/>
              <a:cs typeface="Times New Roman" panose="02020603050405020304" pitchFamily="18" charset="0"/>
            </a:endParaRPr>
          </a:p>
          <a:p>
            <a:pPr>
              <a:lnSpc>
                <a:spcPct val="150000"/>
              </a:lnSpc>
            </a:pPr>
            <a:endParaRPr lang="en-US" sz="2800" dirty="0">
              <a:latin typeface="Times New Roman" panose="02020603050405020304" pitchFamily="18" charset="0"/>
              <a:cs typeface="Times New Roman" panose="02020603050405020304" pitchFamily="18" charset="0"/>
            </a:endParaRPr>
          </a:p>
          <a:p>
            <a:pPr>
              <a:lnSpc>
                <a:spcPct val="150000"/>
              </a:lnSpc>
            </a:pPr>
            <a:endParaRPr lang="en-US" sz="2800" dirty="0">
              <a:latin typeface="Times New Roman" panose="02020603050405020304" pitchFamily="18" charset="0"/>
              <a:cs typeface="Times New Roman" panose="02020603050405020304" pitchFamily="18" charset="0"/>
            </a:endParaRPr>
          </a:p>
          <a:p>
            <a:pPr>
              <a:lnSpc>
                <a:spcPct val="150000"/>
              </a:lnSpc>
            </a:pPr>
            <a:endParaRPr lang="en-IN" sz="2800" dirty="0">
              <a:latin typeface="Times New Roman" panose="02020603050405020304" pitchFamily="18" charset="0"/>
              <a:cs typeface="Times New Roman" panose="02020603050405020304" pitchFamily="18" charset="0"/>
            </a:endParaRPr>
          </a:p>
        </p:txBody>
      </p:sp>
      <p:pic>
        <p:nvPicPr>
          <p:cNvPr id="4" name="object 4">
            <a:extLst>
              <a:ext uri="{FF2B5EF4-FFF2-40B4-BE49-F238E27FC236}">
                <a16:creationId xmlns:a16="http://schemas.microsoft.com/office/drawing/2014/main" id="{F7A745F1-0504-7661-2FE0-07F56D5D08CF}"/>
              </a:ext>
            </a:extLst>
          </p:cNvPr>
          <p:cNvPicPr/>
          <p:nvPr/>
        </p:nvPicPr>
        <p:blipFill>
          <a:blip r:embed="rId2" cstate="print"/>
          <a:stretch>
            <a:fillRect/>
          </a:stretch>
        </p:blipFill>
        <p:spPr>
          <a:xfrm>
            <a:off x="357352" y="191643"/>
            <a:ext cx="1103582" cy="1342897"/>
          </a:xfrm>
          <a:prstGeom prst="rect">
            <a:avLst/>
          </a:prstGeom>
        </p:spPr>
      </p:pic>
      <p:pic>
        <p:nvPicPr>
          <p:cNvPr id="5" name="object 5">
            <a:extLst>
              <a:ext uri="{FF2B5EF4-FFF2-40B4-BE49-F238E27FC236}">
                <a16:creationId xmlns:a16="http://schemas.microsoft.com/office/drawing/2014/main" id="{A57F148C-BEF6-E715-4758-2516FDF3A649}"/>
              </a:ext>
            </a:extLst>
          </p:cNvPr>
          <p:cNvPicPr/>
          <p:nvPr/>
        </p:nvPicPr>
        <p:blipFill>
          <a:blip r:embed="rId3" cstate="print"/>
          <a:stretch>
            <a:fillRect/>
          </a:stretch>
        </p:blipFill>
        <p:spPr>
          <a:xfrm>
            <a:off x="10514203" y="191643"/>
            <a:ext cx="1520062" cy="1342897"/>
          </a:xfrm>
          <a:prstGeom prst="rect">
            <a:avLst/>
          </a:prstGeom>
        </p:spPr>
      </p:pic>
    </p:spTree>
    <p:extLst>
      <p:ext uri="{BB962C8B-B14F-4D97-AF65-F5344CB8AC3E}">
        <p14:creationId xmlns:p14="http://schemas.microsoft.com/office/powerpoint/2010/main" val="42666851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0B6202-EBAE-2743-FC35-9D824176D610}"/>
              </a:ext>
            </a:extLst>
          </p:cNvPr>
          <p:cNvSpPr>
            <a:spLocks noGrp="1"/>
          </p:cNvSpPr>
          <p:nvPr>
            <p:ph type="title"/>
          </p:nvPr>
        </p:nvSpPr>
        <p:spPr/>
        <p:txBody>
          <a:bodyPr/>
          <a:lstStyle/>
          <a:p>
            <a:pPr algn="ctr"/>
            <a:r>
              <a:rPr lang="en-IN" b="1" dirty="0">
                <a:latin typeface="Times New Roman" panose="02020603050405020304" pitchFamily="18" charset="0"/>
                <a:cs typeface="Times New Roman" panose="02020603050405020304" pitchFamily="18" charset="0"/>
              </a:rPr>
              <a:t>Introduction</a:t>
            </a:r>
            <a:endParaRPr lang="en-IN" b="1" dirty="0"/>
          </a:p>
        </p:txBody>
      </p:sp>
      <p:sp>
        <p:nvSpPr>
          <p:cNvPr id="3" name="Content Placeholder 2">
            <a:extLst>
              <a:ext uri="{FF2B5EF4-FFF2-40B4-BE49-F238E27FC236}">
                <a16:creationId xmlns:a16="http://schemas.microsoft.com/office/drawing/2014/main" id="{F4855256-1F65-9510-8830-C599906CD404}"/>
              </a:ext>
            </a:extLst>
          </p:cNvPr>
          <p:cNvSpPr>
            <a:spLocks noGrp="1"/>
          </p:cNvSpPr>
          <p:nvPr>
            <p:ph idx="1"/>
          </p:nvPr>
        </p:nvSpPr>
        <p:spPr>
          <a:xfrm>
            <a:off x="1056640" y="1534540"/>
            <a:ext cx="10297160" cy="4351338"/>
          </a:xfrm>
        </p:spPr>
        <p:txBody>
          <a:bodyPr>
            <a:normAutofit lnSpcReduction="10000"/>
          </a:bodyPr>
          <a:lstStyle/>
          <a:p>
            <a:pPr>
              <a:buNone/>
            </a:pPr>
            <a:endParaRPr lang="en-US" dirty="0"/>
          </a:p>
          <a:p>
            <a:pPr>
              <a:lnSpc>
                <a:spcPct val="150000"/>
              </a:lnSpc>
            </a:pPr>
            <a:r>
              <a:rPr lang="en-US" dirty="0"/>
              <a:t> </a:t>
            </a:r>
            <a:r>
              <a:rPr lang="en-US" sz="1700" dirty="0"/>
              <a:t>A Real-time Bus Tracking System for campus transport addresses these issues by providing up-to-date location data and estimated arrival times for campus buses. Using GPS technology, mobile applications, and web-based platforms, this system enables users to track bus movements in real-time, plan their travel more efficiently, and reduce wait times at bus stops.</a:t>
            </a:r>
          </a:p>
          <a:p>
            <a:pPr>
              <a:lnSpc>
                <a:spcPct val="150000"/>
              </a:lnSpc>
            </a:pPr>
            <a:r>
              <a:rPr lang="en-US" sz="1700" dirty="0"/>
              <a:t>The system typically includes GPS modules installed on each bus, a central server for processing and managing data, and user interfaces such as mobile apps or web portals. By integrating these components, the system improves operational transparency, enhances commuter experience, and optimizes the campus transport service. Additionally, it can support features like route scheduling, bus occupancy monitoring, and notifications, contributing to smarter and greener campus mobility.</a:t>
            </a:r>
          </a:p>
          <a:p>
            <a:pPr>
              <a:lnSpc>
                <a:spcPct val="170000"/>
              </a:lnSpc>
            </a:pPr>
            <a:endParaRPr lang="en-IN" dirty="0"/>
          </a:p>
        </p:txBody>
      </p:sp>
      <p:pic>
        <p:nvPicPr>
          <p:cNvPr id="4" name="object 4">
            <a:extLst>
              <a:ext uri="{FF2B5EF4-FFF2-40B4-BE49-F238E27FC236}">
                <a16:creationId xmlns:a16="http://schemas.microsoft.com/office/drawing/2014/main" id="{014249F3-942D-87A5-0BE3-0C71BDC7C93B}"/>
              </a:ext>
            </a:extLst>
          </p:cNvPr>
          <p:cNvPicPr/>
          <p:nvPr/>
        </p:nvPicPr>
        <p:blipFill>
          <a:blip r:embed="rId2" cstate="print"/>
          <a:stretch>
            <a:fillRect/>
          </a:stretch>
        </p:blipFill>
        <p:spPr>
          <a:xfrm>
            <a:off x="519912" y="230188"/>
            <a:ext cx="1103582" cy="1342897"/>
          </a:xfrm>
          <a:prstGeom prst="rect">
            <a:avLst/>
          </a:prstGeom>
        </p:spPr>
      </p:pic>
      <p:pic>
        <p:nvPicPr>
          <p:cNvPr id="5" name="object 5">
            <a:extLst>
              <a:ext uri="{FF2B5EF4-FFF2-40B4-BE49-F238E27FC236}">
                <a16:creationId xmlns:a16="http://schemas.microsoft.com/office/drawing/2014/main" id="{F96AEB17-18B6-DD1C-3962-AE1BB960C6C9}"/>
              </a:ext>
            </a:extLst>
          </p:cNvPr>
          <p:cNvPicPr/>
          <p:nvPr/>
        </p:nvPicPr>
        <p:blipFill>
          <a:blip r:embed="rId3" cstate="print"/>
          <a:stretch>
            <a:fillRect/>
          </a:stretch>
        </p:blipFill>
        <p:spPr>
          <a:xfrm>
            <a:off x="10514203" y="191643"/>
            <a:ext cx="1520062" cy="1342897"/>
          </a:xfrm>
          <a:prstGeom prst="rect">
            <a:avLst/>
          </a:prstGeom>
        </p:spPr>
      </p:pic>
    </p:spTree>
    <p:extLst>
      <p:ext uri="{BB962C8B-B14F-4D97-AF65-F5344CB8AC3E}">
        <p14:creationId xmlns:p14="http://schemas.microsoft.com/office/powerpoint/2010/main" val="35704675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077D7-88E5-01BE-285D-A437D66C0C66}"/>
              </a:ext>
            </a:extLst>
          </p:cNvPr>
          <p:cNvSpPr>
            <a:spLocks noGrp="1"/>
          </p:cNvSpPr>
          <p:nvPr>
            <p:ph type="title"/>
          </p:nvPr>
        </p:nvSpPr>
        <p:spPr>
          <a:xfrm>
            <a:off x="838200" y="517525"/>
            <a:ext cx="10515600" cy="1325563"/>
          </a:xfrm>
        </p:spPr>
        <p:txBody>
          <a:bodyPr/>
          <a:lstStyle/>
          <a:p>
            <a:pPr algn="ctr"/>
            <a:r>
              <a:rPr lang="en-IN" b="1" dirty="0">
                <a:latin typeface="Times New Roman" panose="02020603050405020304" pitchFamily="18" charset="0"/>
                <a:cs typeface="Times New Roman" panose="02020603050405020304" pitchFamily="18" charset="0"/>
              </a:rPr>
              <a:t>Objectives</a:t>
            </a:r>
            <a:endParaRPr lang="en-IN" b="1" dirty="0"/>
          </a:p>
        </p:txBody>
      </p:sp>
      <p:sp>
        <p:nvSpPr>
          <p:cNvPr id="3" name="Content Placeholder 2">
            <a:extLst>
              <a:ext uri="{FF2B5EF4-FFF2-40B4-BE49-F238E27FC236}">
                <a16:creationId xmlns:a16="http://schemas.microsoft.com/office/drawing/2014/main" id="{C78ED12E-8931-628A-8D52-0442F68831EE}"/>
              </a:ext>
            </a:extLst>
          </p:cNvPr>
          <p:cNvSpPr>
            <a:spLocks noGrp="1"/>
          </p:cNvSpPr>
          <p:nvPr>
            <p:ph idx="1"/>
          </p:nvPr>
        </p:nvSpPr>
        <p:spPr>
          <a:xfrm>
            <a:off x="1769533" y="2225591"/>
            <a:ext cx="7357533" cy="3285067"/>
          </a:xfrm>
        </p:spPr>
        <p:txBody>
          <a:bodyPr>
            <a:noAutofit/>
          </a:bodyPr>
          <a:lstStyle/>
          <a:p>
            <a:pPr>
              <a:lnSpc>
                <a:spcPct val="100000"/>
              </a:lnSpc>
              <a:buNone/>
            </a:pPr>
            <a:r>
              <a:rPr lang="en-US" sz="2400" b="1" dirty="0">
                <a:latin typeface="Times New Roman" panose="02020603050405020304" pitchFamily="18" charset="0"/>
                <a:cs typeface="Times New Roman" panose="02020603050405020304" pitchFamily="18" charset="0"/>
              </a:rPr>
              <a:t>Clear Goal and excepted outputs:</a:t>
            </a:r>
          </a:p>
          <a:p>
            <a:pPr>
              <a:lnSpc>
                <a:spcPct val="100000"/>
              </a:lnSpc>
            </a:pPr>
            <a:r>
              <a:rPr lang="en-IN" sz="2000" dirty="0"/>
              <a:t>Real-Time Bus Location Tracking</a:t>
            </a:r>
          </a:p>
          <a:p>
            <a:pPr>
              <a:lnSpc>
                <a:spcPct val="100000"/>
              </a:lnSpc>
            </a:pPr>
            <a:r>
              <a:rPr lang="en-US" sz="2000" dirty="0"/>
              <a:t>Estimated Arrival Time (ETA) Notifications</a:t>
            </a:r>
          </a:p>
          <a:p>
            <a:pPr>
              <a:lnSpc>
                <a:spcPct val="100000"/>
              </a:lnSpc>
            </a:pPr>
            <a:r>
              <a:rPr lang="en-US" sz="2000" dirty="0">
                <a:latin typeface="Times New Roman" panose="02020603050405020304" pitchFamily="18" charset="0"/>
                <a:cs typeface="Times New Roman" panose="02020603050405020304" pitchFamily="18" charset="0"/>
              </a:rPr>
              <a:t>Optimize execution speed and resource usage for better performance.</a:t>
            </a:r>
          </a:p>
          <a:p>
            <a:pPr>
              <a:lnSpc>
                <a:spcPct val="100000"/>
              </a:lnSpc>
            </a:pPr>
            <a:r>
              <a:rPr lang="en-IN" sz="2000" dirty="0"/>
              <a:t>User-Friendly Interface</a:t>
            </a:r>
          </a:p>
          <a:p>
            <a:pPr>
              <a:lnSpc>
                <a:spcPct val="100000"/>
              </a:lnSpc>
            </a:pPr>
            <a:r>
              <a:rPr lang="en-IN" sz="2000" dirty="0"/>
              <a:t> Improved Operational Efficiency</a:t>
            </a:r>
            <a:r>
              <a:rPr lang="en-US" sz="2000" dirty="0"/>
              <a:t>.</a:t>
            </a:r>
            <a:endParaRPr lang="en-IN" sz="2000" dirty="0"/>
          </a:p>
        </p:txBody>
      </p:sp>
      <p:pic>
        <p:nvPicPr>
          <p:cNvPr id="4" name="object 4">
            <a:extLst>
              <a:ext uri="{FF2B5EF4-FFF2-40B4-BE49-F238E27FC236}">
                <a16:creationId xmlns:a16="http://schemas.microsoft.com/office/drawing/2014/main" id="{F6C7E4D0-71CD-F4E0-87E0-88C12C32AABC}"/>
              </a:ext>
            </a:extLst>
          </p:cNvPr>
          <p:cNvPicPr/>
          <p:nvPr/>
        </p:nvPicPr>
        <p:blipFill>
          <a:blip r:embed="rId3" cstate="print"/>
          <a:stretch>
            <a:fillRect/>
          </a:stretch>
        </p:blipFill>
        <p:spPr>
          <a:xfrm>
            <a:off x="357352" y="191643"/>
            <a:ext cx="1103582" cy="1342897"/>
          </a:xfrm>
          <a:prstGeom prst="rect">
            <a:avLst/>
          </a:prstGeom>
        </p:spPr>
      </p:pic>
      <p:pic>
        <p:nvPicPr>
          <p:cNvPr id="5" name="object 5">
            <a:extLst>
              <a:ext uri="{FF2B5EF4-FFF2-40B4-BE49-F238E27FC236}">
                <a16:creationId xmlns:a16="http://schemas.microsoft.com/office/drawing/2014/main" id="{07E63B91-C767-F365-05EA-535FEDCA2A72}"/>
              </a:ext>
            </a:extLst>
          </p:cNvPr>
          <p:cNvPicPr/>
          <p:nvPr/>
        </p:nvPicPr>
        <p:blipFill>
          <a:blip r:embed="rId4" cstate="print"/>
          <a:stretch>
            <a:fillRect/>
          </a:stretch>
        </p:blipFill>
        <p:spPr>
          <a:xfrm>
            <a:off x="10514203" y="191643"/>
            <a:ext cx="1520062" cy="1342897"/>
          </a:xfrm>
          <a:prstGeom prst="rect">
            <a:avLst/>
          </a:prstGeom>
        </p:spPr>
      </p:pic>
    </p:spTree>
    <p:extLst>
      <p:ext uri="{BB962C8B-B14F-4D97-AF65-F5344CB8AC3E}">
        <p14:creationId xmlns:p14="http://schemas.microsoft.com/office/powerpoint/2010/main" val="28673555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44DA61-7EC0-A8A7-EE90-11591A11D259}"/>
              </a:ext>
            </a:extLst>
          </p:cNvPr>
          <p:cNvSpPr>
            <a:spLocks noGrp="1"/>
          </p:cNvSpPr>
          <p:nvPr>
            <p:ph type="title"/>
          </p:nvPr>
        </p:nvSpPr>
        <p:spPr/>
        <p:txBody>
          <a:bodyPr/>
          <a:lstStyle/>
          <a:p>
            <a:pPr algn="ctr"/>
            <a:r>
              <a:rPr lang="en-IN" b="1" dirty="0">
                <a:latin typeface="Times New Roman" panose="02020603050405020304" pitchFamily="18" charset="0"/>
                <a:cs typeface="Times New Roman" panose="02020603050405020304" pitchFamily="18" charset="0"/>
              </a:rPr>
              <a:t>Methodology</a:t>
            </a:r>
          </a:p>
        </p:txBody>
      </p:sp>
      <p:pic>
        <p:nvPicPr>
          <p:cNvPr id="4" name="object 4">
            <a:extLst>
              <a:ext uri="{FF2B5EF4-FFF2-40B4-BE49-F238E27FC236}">
                <a16:creationId xmlns:a16="http://schemas.microsoft.com/office/drawing/2014/main" id="{7C372712-5473-97DB-42FC-F2DE49970707}"/>
              </a:ext>
            </a:extLst>
          </p:cNvPr>
          <p:cNvPicPr/>
          <p:nvPr/>
        </p:nvPicPr>
        <p:blipFill>
          <a:blip r:embed="rId2" cstate="print"/>
          <a:stretch>
            <a:fillRect/>
          </a:stretch>
        </p:blipFill>
        <p:spPr>
          <a:xfrm>
            <a:off x="448792" y="230188"/>
            <a:ext cx="1103582" cy="1342897"/>
          </a:xfrm>
          <a:prstGeom prst="rect">
            <a:avLst/>
          </a:prstGeom>
        </p:spPr>
      </p:pic>
      <p:pic>
        <p:nvPicPr>
          <p:cNvPr id="5" name="object 5">
            <a:extLst>
              <a:ext uri="{FF2B5EF4-FFF2-40B4-BE49-F238E27FC236}">
                <a16:creationId xmlns:a16="http://schemas.microsoft.com/office/drawing/2014/main" id="{D29FB126-A22B-B67C-27EE-73B7AB3DE939}"/>
              </a:ext>
            </a:extLst>
          </p:cNvPr>
          <p:cNvPicPr/>
          <p:nvPr/>
        </p:nvPicPr>
        <p:blipFill>
          <a:blip r:embed="rId3" cstate="print"/>
          <a:stretch>
            <a:fillRect/>
          </a:stretch>
        </p:blipFill>
        <p:spPr>
          <a:xfrm>
            <a:off x="10514203" y="191643"/>
            <a:ext cx="1520062" cy="1342897"/>
          </a:xfrm>
          <a:prstGeom prst="rect">
            <a:avLst/>
          </a:prstGeom>
        </p:spPr>
      </p:pic>
      <p:sp>
        <p:nvSpPr>
          <p:cNvPr id="6" name="Rectangle 1">
            <a:extLst>
              <a:ext uri="{FF2B5EF4-FFF2-40B4-BE49-F238E27FC236}">
                <a16:creationId xmlns:a16="http://schemas.microsoft.com/office/drawing/2014/main" id="{7DC8A8B6-88D7-EFED-AF1A-9BA77E1A9867}"/>
              </a:ext>
            </a:extLst>
          </p:cNvPr>
          <p:cNvSpPr>
            <a:spLocks noGrp="1" noChangeArrowheads="1"/>
          </p:cNvSpPr>
          <p:nvPr>
            <p:ph idx="1"/>
          </p:nvPr>
        </p:nvSpPr>
        <p:spPr bwMode="auto">
          <a:xfrm>
            <a:off x="1552374" y="1473511"/>
            <a:ext cx="8653203" cy="55707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1.Requirement Analysis</a:t>
            </a:r>
            <a:r>
              <a:rPr lang="en-US" altLang="en-US" sz="1600" b="1" dirty="0">
                <a:latin typeface="Times New Roman" panose="02020603050405020304" pitchFamily="18" charset="0"/>
                <a:cs typeface="Times New Roman" panose="02020603050405020304" pitchFamily="18" charset="0"/>
              </a:rPr>
              <a:t>:</a:t>
            </a: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Identify user needs (students, faculty, drivers, and administrators).</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Define system functionalities: tracking, ETA, notifications, route info, admin panel, etc.</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2.System Design:</a:t>
            </a: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Design the architecture: GPS device → Server → Database → Mobile/Web App.</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Choose technology stack (e.g., GPS modules, Firebase, Android/iOS app, web frameworks).</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3.Hardware Integration:</a:t>
            </a: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Install GPS modules or smartphones with tracking apps in campus buses.</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Ensure continuous data transmission from GPS to the central server.</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4.Backend Development:</a:t>
            </a: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Set up a real-time database to collect and manage bus location data.</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Develop APIs to connect the GPS data with the user interface.</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5.Frontend Development:</a:t>
            </a: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Design and build mobile and/or web applications with live bus tracking maps.</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Implement user-friendly features such as stop selection, ETA display, and route visualization.</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6.Testing and Validation:</a:t>
            </a: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Perform functional testing (tracking accuracy, ETA correctness, map rendering).</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Conduct user testing with actual campus users for feedback and improvements.</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7.Deployment and Maintenance:</a:t>
            </a: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Deploy the system across the campus transport fleet.</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Monitor performance, fix bugs, and update features based on user feedback</a:t>
            </a:r>
            <a:r>
              <a:rPr kumimoji="0" lang="en-US" altLang="en-US" sz="18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839843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27E735-10FA-089C-4FF4-7D74A5FBB141}"/>
              </a:ext>
            </a:extLst>
          </p:cNvPr>
          <p:cNvSpPr>
            <a:spLocks noGrp="1"/>
          </p:cNvSpPr>
          <p:nvPr>
            <p:ph type="title"/>
          </p:nvPr>
        </p:nvSpPr>
        <p:spPr/>
        <p:txBody>
          <a:bodyPr/>
          <a:lstStyle/>
          <a:p>
            <a:pPr algn="ctr"/>
            <a:r>
              <a:rPr lang="en-IN" b="1" dirty="0">
                <a:latin typeface="Times New Roman" panose="02020603050405020304" pitchFamily="18" charset="0"/>
                <a:cs typeface="Times New Roman" panose="02020603050405020304" pitchFamily="18" charset="0"/>
              </a:rPr>
              <a:t>Implementation</a:t>
            </a:r>
          </a:p>
        </p:txBody>
      </p:sp>
      <p:sp>
        <p:nvSpPr>
          <p:cNvPr id="3" name="Content Placeholder 2">
            <a:extLst>
              <a:ext uri="{FF2B5EF4-FFF2-40B4-BE49-F238E27FC236}">
                <a16:creationId xmlns:a16="http://schemas.microsoft.com/office/drawing/2014/main" id="{F475DF8C-6B21-18DB-3298-49BDDC77A026}"/>
              </a:ext>
            </a:extLst>
          </p:cNvPr>
          <p:cNvSpPr>
            <a:spLocks noGrp="1"/>
          </p:cNvSpPr>
          <p:nvPr>
            <p:ph idx="1"/>
          </p:nvPr>
        </p:nvSpPr>
        <p:spPr>
          <a:xfrm>
            <a:off x="834834" y="1995614"/>
            <a:ext cx="10439400" cy="4670743"/>
          </a:xfrm>
        </p:spPr>
        <p:txBody>
          <a:bodyPr>
            <a:normAutofit fontScale="92500" lnSpcReduction="10000"/>
          </a:bodyPr>
          <a:lstStyle/>
          <a:p>
            <a:pPr>
              <a:buFont typeface="+mj-lt"/>
              <a:buAutoNum type="arabicPeriod"/>
            </a:pPr>
            <a:r>
              <a:rPr lang="en-US" sz="2200" b="1" dirty="0"/>
              <a:t>Install GPS Devices</a:t>
            </a:r>
            <a:endParaRPr lang="en-US" sz="2200" dirty="0"/>
          </a:p>
          <a:p>
            <a:pPr marL="742950" lvl="1" indent="-285750">
              <a:buFont typeface="+mj-lt"/>
              <a:buAutoNum type="arabicPeriod"/>
            </a:pPr>
            <a:r>
              <a:rPr lang="en-US" sz="2200" dirty="0"/>
              <a:t>Place GPS modules or smartphones with tracking apps in each campus bus.</a:t>
            </a:r>
          </a:p>
          <a:p>
            <a:pPr>
              <a:buFont typeface="+mj-lt"/>
              <a:buAutoNum type="arabicPeriod"/>
            </a:pPr>
            <a:r>
              <a:rPr lang="en-US" sz="2200" b="1" dirty="0"/>
              <a:t>Set Up Server and Database</a:t>
            </a:r>
            <a:endParaRPr lang="en-US" sz="2200" dirty="0"/>
          </a:p>
          <a:p>
            <a:pPr marL="742950" lvl="1" indent="-285750">
              <a:buFont typeface="+mj-lt"/>
              <a:buAutoNum type="arabicPeriod"/>
            </a:pPr>
            <a:r>
              <a:rPr lang="en-US" sz="2200" dirty="0"/>
              <a:t>Use a cloud server (e.g., Firebase, AWS) to receive and store real-time location data.</a:t>
            </a:r>
          </a:p>
          <a:p>
            <a:pPr>
              <a:buFont typeface="+mj-lt"/>
              <a:buAutoNum type="arabicPeriod"/>
            </a:pPr>
            <a:r>
              <a:rPr lang="en-US" sz="2200" b="1" dirty="0"/>
              <a:t>Develop Mobile/Web Application</a:t>
            </a:r>
            <a:endParaRPr lang="en-US" sz="2200" dirty="0"/>
          </a:p>
          <a:p>
            <a:pPr marL="742950" lvl="1" indent="-285750">
              <a:buFont typeface="+mj-lt"/>
              <a:buAutoNum type="arabicPeriod"/>
            </a:pPr>
            <a:r>
              <a:rPr lang="en-US" sz="2200" dirty="0"/>
              <a:t>Create a user-friendly app or website to show live bus locations, routes, and estimated arrival times.</a:t>
            </a:r>
          </a:p>
          <a:p>
            <a:pPr>
              <a:buFont typeface="+mj-lt"/>
              <a:buAutoNum type="arabicPeriod"/>
            </a:pPr>
            <a:r>
              <a:rPr lang="en-US" sz="2200" b="1" dirty="0"/>
              <a:t>Connect GPS to Application</a:t>
            </a:r>
            <a:endParaRPr lang="en-US" sz="2200" dirty="0"/>
          </a:p>
          <a:p>
            <a:pPr marL="742950" lvl="1" indent="-285750">
              <a:buFont typeface="+mj-lt"/>
              <a:buAutoNum type="arabicPeriod"/>
            </a:pPr>
            <a:r>
              <a:rPr lang="en-US" sz="2200" dirty="0"/>
              <a:t>Use APIs to send GPS data from the bus to the app in real time.</a:t>
            </a:r>
          </a:p>
          <a:p>
            <a:pPr>
              <a:buFont typeface="+mj-lt"/>
              <a:buAutoNum type="arabicPeriod"/>
            </a:pPr>
            <a:r>
              <a:rPr lang="en-US" sz="2200" b="1" dirty="0"/>
              <a:t>Test the System</a:t>
            </a:r>
            <a:endParaRPr lang="en-US" sz="2200" dirty="0"/>
          </a:p>
          <a:p>
            <a:pPr marL="742950" lvl="1" indent="-285750">
              <a:buFont typeface="+mj-lt"/>
              <a:buAutoNum type="arabicPeriod"/>
            </a:pPr>
            <a:r>
              <a:rPr lang="en-US" sz="2200" dirty="0"/>
              <a:t>Run tests to ensure accurate location tracking and smooth app performance.</a:t>
            </a:r>
          </a:p>
          <a:p>
            <a:pPr>
              <a:buFont typeface="+mj-lt"/>
              <a:buAutoNum type="arabicPeriod"/>
            </a:pPr>
            <a:r>
              <a:rPr lang="en-US" sz="2200" b="1" dirty="0"/>
              <a:t>Launch and Monitor</a:t>
            </a:r>
            <a:endParaRPr lang="en-US" sz="2200" dirty="0"/>
          </a:p>
          <a:p>
            <a:pPr marL="742950" lvl="1" indent="-285750">
              <a:buFont typeface="+mj-lt"/>
              <a:buAutoNum type="arabicPeriod"/>
            </a:pPr>
            <a:r>
              <a:rPr lang="en-US" sz="2200" dirty="0"/>
              <a:t>Deploy the system for use across campus and continuously monitor for issues or improvements.</a:t>
            </a:r>
          </a:p>
          <a:p>
            <a:pPr marL="0" indent="0">
              <a:lnSpc>
                <a:spcPct val="120000"/>
              </a:lnSpc>
              <a:buNone/>
            </a:pPr>
            <a:endParaRPr lang="en-IN" sz="1700" dirty="0">
              <a:latin typeface="Times New Roman" panose="02020603050405020304" pitchFamily="18" charset="0"/>
              <a:cs typeface="Times New Roman" panose="02020603050405020304" pitchFamily="18" charset="0"/>
            </a:endParaRPr>
          </a:p>
        </p:txBody>
      </p:sp>
      <p:pic>
        <p:nvPicPr>
          <p:cNvPr id="4" name="object 4">
            <a:extLst>
              <a:ext uri="{FF2B5EF4-FFF2-40B4-BE49-F238E27FC236}">
                <a16:creationId xmlns:a16="http://schemas.microsoft.com/office/drawing/2014/main" id="{CA36204D-E1B2-3D8D-799F-A8ADC337D17B}"/>
              </a:ext>
            </a:extLst>
          </p:cNvPr>
          <p:cNvPicPr/>
          <p:nvPr/>
        </p:nvPicPr>
        <p:blipFill>
          <a:blip r:embed="rId2" cstate="print"/>
          <a:stretch>
            <a:fillRect/>
          </a:stretch>
        </p:blipFill>
        <p:spPr>
          <a:xfrm>
            <a:off x="357352" y="191643"/>
            <a:ext cx="1103582" cy="1342897"/>
          </a:xfrm>
          <a:prstGeom prst="rect">
            <a:avLst/>
          </a:prstGeom>
        </p:spPr>
      </p:pic>
      <p:pic>
        <p:nvPicPr>
          <p:cNvPr id="5" name="object 5">
            <a:extLst>
              <a:ext uri="{FF2B5EF4-FFF2-40B4-BE49-F238E27FC236}">
                <a16:creationId xmlns:a16="http://schemas.microsoft.com/office/drawing/2014/main" id="{BE8E03E4-1C6D-5E91-24DB-55BEAC0DE007}"/>
              </a:ext>
            </a:extLst>
          </p:cNvPr>
          <p:cNvPicPr/>
          <p:nvPr/>
        </p:nvPicPr>
        <p:blipFill>
          <a:blip r:embed="rId3" cstate="print"/>
          <a:stretch>
            <a:fillRect/>
          </a:stretch>
        </p:blipFill>
        <p:spPr>
          <a:xfrm>
            <a:off x="10514203" y="191643"/>
            <a:ext cx="1520062" cy="1342897"/>
          </a:xfrm>
          <a:prstGeom prst="rect">
            <a:avLst/>
          </a:prstGeom>
        </p:spPr>
      </p:pic>
    </p:spTree>
    <p:extLst>
      <p:ext uri="{BB962C8B-B14F-4D97-AF65-F5344CB8AC3E}">
        <p14:creationId xmlns:p14="http://schemas.microsoft.com/office/powerpoint/2010/main" val="2279088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D4B7A7-5EF5-BB4B-12CA-3E4A9D3471F4}"/>
              </a:ext>
            </a:extLst>
          </p:cNvPr>
          <p:cNvSpPr>
            <a:spLocks noGrp="1"/>
          </p:cNvSpPr>
          <p:nvPr>
            <p:ph type="title"/>
          </p:nvPr>
        </p:nvSpPr>
        <p:spPr/>
        <p:txBody>
          <a:bodyPr/>
          <a:lstStyle/>
          <a:p>
            <a:pPr algn="ctr"/>
            <a:r>
              <a:rPr lang="en-IN" b="1" dirty="0">
                <a:latin typeface="Times New Roman" panose="02020603050405020304" pitchFamily="18" charset="0"/>
                <a:cs typeface="Times New Roman" panose="02020603050405020304" pitchFamily="18" charset="0"/>
              </a:rPr>
              <a:t>Results and Discussion</a:t>
            </a:r>
          </a:p>
        </p:txBody>
      </p:sp>
      <p:pic>
        <p:nvPicPr>
          <p:cNvPr id="4" name="object 4">
            <a:extLst>
              <a:ext uri="{FF2B5EF4-FFF2-40B4-BE49-F238E27FC236}">
                <a16:creationId xmlns:a16="http://schemas.microsoft.com/office/drawing/2014/main" id="{B430D316-D166-866C-EBAA-064702AD3B0A}"/>
              </a:ext>
            </a:extLst>
          </p:cNvPr>
          <p:cNvPicPr/>
          <p:nvPr/>
        </p:nvPicPr>
        <p:blipFill>
          <a:blip r:embed="rId2" cstate="print"/>
          <a:stretch>
            <a:fillRect/>
          </a:stretch>
        </p:blipFill>
        <p:spPr>
          <a:xfrm>
            <a:off x="357352" y="191643"/>
            <a:ext cx="1103582" cy="1342897"/>
          </a:xfrm>
          <a:prstGeom prst="rect">
            <a:avLst/>
          </a:prstGeom>
        </p:spPr>
      </p:pic>
      <p:pic>
        <p:nvPicPr>
          <p:cNvPr id="5" name="object 5">
            <a:extLst>
              <a:ext uri="{FF2B5EF4-FFF2-40B4-BE49-F238E27FC236}">
                <a16:creationId xmlns:a16="http://schemas.microsoft.com/office/drawing/2014/main" id="{8DBFA5D3-2564-4659-D2BD-18B94F5F731E}"/>
              </a:ext>
            </a:extLst>
          </p:cNvPr>
          <p:cNvPicPr/>
          <p:nvPr/>
        </p:nvPicPr>
        <p:blipFill>
          <a:blip r:embed="rId3" cstate="print"/>
          <a:stretch>
            <a:fillRect/>
          </a:stretch>
        </p:blipFill>
        <p:spPr>
          <a:xfrm>
            <a:off x="10514203" y="191643"/>
            <a:ext cx="1520062" cy="1342897"/>
          </a:xfrm>
          <a:prstGeom prst="rect">
            <a:avLst/>
          </a:prstGeom>
        </p:spPr>
      </p:pic>
      <p:sp>
        <p:nvSpPr>
          <p:cNvPr id="6" name="Rectangle 1">
            <a:extLst>
              <a:ext uri="{FF2B5EF4-FFF2-40B4-BE49-F238E27FC236}">
                <a16:creationId xmlns:a16="http://schemas.microsoft.com/office/drawing/2014/main" id="{F108608A-55F1-B49C-44E7-C0FDB9CC0707}"/>
              </a:ext>
            </a:extLst>
          </p:cNvPr>
          <p:cNvSpPr>
            <a:spLocks noGrp="1" noChangeArrowheads="1"/>
          </p:cNvSpPr>
          <p:nvPr>
            <p:ph idx="1"/>
          </p:nvPr>
        </p:nvSpPr>
        <p:spPr bwMode="auto">
          <a:xfrm>
            <a:off x="914400" y="2324497"/>
            <a:ext cx="10913533" cy="36933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1800" b="1" i="0" u="none" strike="noStrike" cap="none" normalizeH="0" baseline="0" dirty="0">
                <a:ln>
                  <a:noFill/>
                </a:ln>
                <a:solidFill>
                  <a:schemeClr val="tx1"/>
                </a:solidFill>
                <a:effectLst/>
                <a:latin typeface="Arial" panose="020B0604020202020204" pitchFamily="34" charset="0"/>
              </a:rPr>
              <a:t>1.Accurate Real-Time Tracking Achieved:</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system successfully displayed real-time bus locations on the map with minimal delay, enhancing visibility and reducing uncertainty for campus commuters.</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800" b="1" i="0" u="none" strike="noStrike" cap="none" normalizeH="0" baseline="0" dirty="0">
                <a:ln>
                  <a:noFill/>
                </a:ln>
                <a:solidFill>
                  <a:schemeClr val="tx1"/>
                </a:solidFill>
                <a:effectLst/>
                <a:latin typeface="Arial" panose="020B0604020202020204" pitchFamily="34" charset="0"/>
              </a:rPr>
              <a:t>2.Improved Commuter Convenience</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Students and staff reported reduced waiting times and better travel planning due to accurate ETA notifications and live tracking features.</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800" b="1" i="0" u="none" strike="noStrike" cap="none" normalizeH="0" baseline="0" dirty="0">
                <a:ln>
                  <a:noFill/>
                </a:ln>
                <a:solidFill>
                  <a:schemeClr val="tx1"/>
                </a:solidFill>
                <a:effectLst/>
                <a:latin typeface="Arial" panose="020B0604020202020204" pitchFamily="34" charset="0"/>
              </a:rPr>
              <a:t>3.System Performance and Reliability</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application performed reliably under normal load conditions, with consistent GPS updates and smooth map rendering.</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800" b="1" i="0" u="none" strike="noStrike" cap="none" normalizeH="0" baseline="0" dirty="0">
                <a:ln>
                  <a:noFill/>
                </a:ln>
                <a:solidFill>
                  <a:schemeClr val="tx1"/>
                </a:solidFill>
                <a:effectLst/>
                <a:latin typeface="Arial" panose="020B0604020202020204" pitchFamily="34" charset="0"/>
              </a:rPr>
              <a:t>4.Potential for Further Enhancements</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Feedback indicated demand for additional features like bus occupancy status, offline support, and integration with campus ID systems for check-ins.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450111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9A25-521A-E4B0-D3FF-F4E0B6C04249}"/>
              </a:ext>
            </a:extLst>
          </p:cNvPr>
          <p:cNvSpPr>
            <a:spLocks noGrp="1"/>
          </p:cNvSpPr>
          <p:nvPr>
            <p:ph type="title"/>
          </p:nvPr>
        </p:nvSpPr>
        <p:spPr/>
        <p:txBody>
          <a:bodyPr/>
          <a:lstStyle/>
          <a:p>
            <a:pPr algn="ctr"/>
            <a:r>
              <a:rPr lang="en-IN" b="1" dirty="0">
                <a:latin typeface="Times New Roman" panose="02020603050405020304" pitchFamily="18" charset="0"/>
                <a:cs typeface="Times New Roman" panose="02020603050405020304" pitchFamily="18" charset="0"/>
              </a:rPr>
              <a:t>Challenges and Limitations</a:t>
            </a:r>
          </a:p>
        </p:txBody>
      </p:sp>
      <p:sp>
        <p:nvSpPr>
          <p:cNvPr id="3" name="Content Placeholder 2">
            <a:extLst>
              <a:ext uri="{FF2B5EF4-FFF2-40B4-BE49-F238E27FC236}">
                <a16:creationId xmlns:a16="http://schemas.microsoft.com/office/drawing/2014/main" id="{76E02F83-2ED6-BCA0-D020-28C2C9F9781C}"/>
              </a:ext>
            </a:extLst>
          </p:cNvPr>
          <p:cNvSpPr>
            <a:spLocks noGrp="1"/>
          </p:cNvSpPr>
          <p:nvPr>
            <p:ph idx="1"/>
          </p:nvPr>
        </p:nvSpPr>
        <p:spPr>
          <a:xfrm>
            <a:off x="956754" y="2141537"/>
            <a:ext cx="10317480" cy="4351338"/>
          </a:xfrm>
        </p:spPr>
        <p:txBody>
          <a:bodyPr>
            <a:normAutofit/>
          </a:bodyPr>
          <a:lstStyle/>
          <a:p>
            <a:pPr>
              <a:buFont typeface="+mj-lt"/>
              <a:buAutoNum type="arabicPeriod"/>
            </a:pPr>
            <a:r>
              <a:rPr lang="en-US" sz="1900" b="1" dirty="0"/>
              <a:t>GPS Signal Issues</a:t>
            </a:r>
            <a:endParaRPr lang="en-US" sz="1900" dirty="0"/>
          </a:p>
          <a:p>
            <a:pPr marL="742950" lvl="1" indent="-285750">
              <a:buFont typeface="+mj-lt"/>
              <a:buAutoNum type="arabicPeriod"/>
            </a:pPr>
            <a:r>
              <a:rPr lang="en-US" sz="1900" dirty="0"/>
              <a:t>GPS accuracy can be affected by poor signal in certain areas, such as tunnels or densely built-up zones on campus.</a:t>
            </a:r>
          </a:p>
          <a:p>
            <a:pPr>
              <a:buFont typeface="+mj-lt"/>
              <a:buAutoNum type="arabicPeriod"/>
            </a:pPr>
            <a:r>
              <a:rPr lang="en-US" sz="1900" b="1" dirty="0"/>
              <a:t>Internet Connectivity Dependence</a:t>
            </a:r>
            <a:endParaRPr lang="en-US" sz="1900" dirty="0"/>
          </a:p>
          <a:p>
            <a:pPr marL="742950" lvl="1" indent="-285750">
              <a:buFont typeface="+mj-lt"/>
              <a:buAutoNum type="arabicPeriod"/>
            </a:pPr>
            <a:r>
              <a:rPr lang="en-US" sz="1900" dirty="0"/>
              <a:t>The system relies heavily on continuous internet access; disruptions in mobile data can delay location updates.</a:t>
            </a:r>
          </a:p>
          <a:p>
            <a:pPr>
              <a:buFont typeface="+mj-lt"/>
              <a:buAutoNum type="arabicPeriod"/>
            </a:pPr>
            <a:r>
              <a:rPr lang="en-US" sz="1900" b="1" dirty="0"/>
              <a:t>Battery and Hardware Maintenance</a:t>
            </a:r>
            <a:endParaRPr lang="en-US" sz="1900" dirty="0"/>
          </a:p>
          <a:p>
            <a:pPr marL="742950" lvl="1" indent="-285750">
              <a:buFont typeface="+mj-lt"/>
              <a:buAutoNum type="arabicPeriod"/>
            </a:pPr>
            <a:r>
              <a:rPr lang="en-US" sz="1900" dirty="0"/>
              <a:t>GPS devices or smartphones require regular charging and maintenance, increasing operational overhead.</a:t>
            </a:r>
          </a:p>
          <a:p>
            <a:pPr>
              <a:buFont typeface="+mj-lt"/>
              <a:buAutoNum type="arabicPeriod"/>
            </a:pPr>
            <a:r>
              <a:rPr lang="en-US" sz="1900" b="1" dirty="0"/>
              <a:t>Scalability Constraints</a:t>
            </a:r>
            <a:endParaRPr lang="en-US" sz="1900" dirty="0"/>
          </a:p>
          <a:p>
            <a:pPr marL="742950" lvl="1" indent="-285750">
              <a:buFont typeface="+mj-lt"/>
              <a:buAutoNum type="arabicPeriod"/>
            </a:pPr>
            <a:r>
              <a:rPr lang="en-US" sz="1900" dirty="0"/>
              <a:t>As the number of buses and users increases, the backend infrastructure may need upgrades to handle higher loads and maintain performance.</a:t>
            </a:r>
          </a:p>
          <a:p>
            <a:pPr marL="0" indent="0">
              <a:lnSpc>
                <a:spcPct val="100000"/>
              </a:lnSpc>
              <a:buNone/>
            </a:pPr>
            <a:endParaRPr lang="en-IN" sz="2000" dirty="0"/>
          </a:p>
        </p:txBody>
      </p:sp>
      <p:pic>
        <p:nvPicPr>
          <p:cNvPr id="4" name="object 4">
            <a:extLst>
              <a:ext uri="{FF2B5EF4-FFF2-40B4-BE49-F238E27FC236}">
                <a16:creationId xmlns:a16="http://schemas.microsoft.com/office/drawing/2014/main" id="{84714C8A-FEA5-E57E-0AB6-1B37EE6EA437}"/>
              </a:ext>
            </a:extLst>
          </p:cNvPr>
          <p:cNvPicPr/>
          <p:nvPr/>
        </p:nvPicPr>
        <p:blipFill>
          <a:blip r:embed="rId2" cstate="print"/>
          <a:stretch>
            <a:fillRect/>
          </a:stretch>
        </p:blipFill>
        <p:spPr>
          <a:xfrm>
            <a:off x="489432" y="230188"/>
            <a:ext cx="1103582" cy="1342897"/>
          </a:xfrm>
          <a:prstGeom prst="rect">
            <a:avLst/>
          </a:prstGeom>
        </p:spPr>
      </p:pic>
      <p:pic>
        <p:nvPicPr>
          <p:cNvPr id="5" name="object 5">
            <a:extLst>
              <a:ext uri="{FF2B5EF4-FFF2-40B4-BE49-F238E27FC236}">
                <a16:creationId xmlns:a16="http://schemas.microsoft.com/office/drawing/2014/main" id="{485F5E74-5E8D-5AB1-E5DB-677A7F68B653}"/>
              </a:ext>
            </a:extLst>
          </p:cNvPr>
          <p:cNvPicPr/>
          <p:nvPr/>
        </p:nvPicPr>
        <p:blipFill>
          <a:blip r:embed="rId3" cstate="print"/>
          <a:stretch>
            <a:fillRect/>
          </a:stretch>
        </p:blipFill>
        <p:spPr>
          <a:xfrm>
            <a:off x="10514203" y="191643"/>
            <a:ext cx="1520062" cy="1342897"/>
          </a:xfrm>
          <a:prstGeom prst="rect">
            <a:avLst/>
          </a:prstGeom>
        </p:spPr>
      </p:pic>
    </p:spTree>
    <p:extLst>
      <p:ext uri="{BB962C8B-B14F-4D97-AF65-F5344CB8AC3E}">
        <p14:creationId xmlns:p14="http://schemas.microsoft.com/office/powerpoint/2010/main" val="13588928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AC3BF-F81F-4CCD-6942-F0728698FE76}"/>
              </a:ext>
            </a:extLst>
          </p:cNvPr>
          <p:cNvSpPr>
            <a:spLocks noGrp="1"/>
          </p:cNvSpPr>
          <p:nvPr>
            <p:ph type="title"/>
          </p:nvPr>
        </p:nvSpPr>
        <p:spPr/>
        <p:txBody>
          <a:bodyPr/>
          <a:lstStyle/>
          <a:p>
            <a:pPr algn="ctr"/>
            <a:r>
              <a:rPr lang="en-IN" b="1" dirty="0">
                <a:latin typeface="Times New Roman" panose="02020603050405020304" pitchFamily="18" charset="0"/>
                <a:cs typeface="Times New Roman" panose="02020603050405020304" pitchFamily="18" charset="0"/>
              </a:rPr>
              <a:t>Future Scope</a:t>
            </a:r>
          </a:p>
        </p:txBody>
      </p:sp>
      <p:sp>
        <p:nvSpPr>
          <p:cNvPr id="3" name="Content Placeholder 2">
            <a:extLst>
              <a:ext uri="{FF2B5EF4-FFF2-40B4-BE49-F238E27FC236}">
                <a16:creationId xmlns:a16="http://schemas.microsoft.com/office/drawing/2014/main" id="{38D98839-5AF3-9783-77B2-6136433C52E9}"/>
              </a:ext>
            </a:extLst>
          </p:cNvPr>
          <p:cNvSpPr>
            <a:spLocks noGrp="1"/>
          </p:cNvSpPr>
          <p:nvPr>
            <p:ph idx="1"/>
          </p:nvPr>
        </p:nvSpPr>
        <p:spPr>
          <a:xfrm>
            <a:off x="1049020" y="2315019"/>
            <a:ext cx="10093960" cy="4351338"/>
          </a:xfrm>
        </p:spPr>
        <p:txBody>
          <a:bodyPr>
            <a:normAutofit/>
          </a:bodyPr>
          <a:lstStyle/>
          <a:p>
            <a:pPr>
              <a:buFont typeface="+mj-lt"/>
              <a:buAutoNum type="arabicPeriod"/>
            </a:pPr>
            <a:r>
              <a:rPr lang="en-US" sz="1800" b="1" dirty="0"/>
              <a:t>Integration with IoT and Smart Campus Infrastructure:</a:t>
            </a:r>
          </a:p>
          <a:p>
            <a:pPr marL="457200" lvl="1" indent="0">
              <a:buNone/>
            </a:pPr>
            <a:endParaRPr lang="en-US" sz="1800" dirty="0"/>
          </a:p>
          <a:p>
            <a:pPr lvl="1"/>
            <a:r>
              <a:rPr lang="en-US" sz="1800" dirty="0"/>
              <a:t>The system could be expanded to integrate with other campus services (e.g., smart lighting, security cameras) to enhance overall campus mobility and safety.</a:t>
            </a:r>
          </a:p>
          <a:p>
            <a:pPr>
              <a:buFont typeface="+mj-lt"/>
              <a:buAutoNum type="arabicPeriod"/>
            </a:pPr>
            <a:r>
              <a:rPr lang="en-US" sz="1800" b="1" dirty="0"/>
              <a:t>AI-Powered Route Optimization:</a:t>
            </a:r>
          </a:p>
          <a:p>
            <a:pPr marL="457200" lvl="1" indent="0">
              <a:buNone/>
            </a:pPr>
            <a:endParaRPr lang="en-US" sz="1800" dirty="0"/>
          </a:p>
          <a:p>
            <a:pPr lvl="1"/>
            <a:r>
              <a:rPr lang="en-US" sz="1800" dirty="0"/>
              <a:t>Implementing AI and machine learning algorithms to optimize bus routes and schedules in real time based on traffic conditions, demand patterns, and historical data.</a:t>
            </a:r>
          </a:p>
          <a:p>
            <a:pPr>
              <a:buFont typeface="+mj-lt"/>
              <a:buAutoNum type="arabicPeriod"/>
            </a:pPr>
            <a:r>
              <a:rPr lang="en-US" sz="1800" b="1" dirty="0"/>
              <a:t>Expansion to Multi-Campus and Public Transport:</a:t>
            </a:r>
          </a:p>
          <a:p>
            <a:pPr marL="457200" lvl="1" indent="0">
              <a:buNone/>
            </a:pPr>
            <a:endParaRPr lang="en-US" sz="1800" dirty="0"/>
          </a:p>
          <a:p>
            <a:pPr lvl="1"/>
            <a:r>
              <a:rPr lang="en-US" sz="1800" dirty="0"/>
              <a:t>The system could be scaled to include transportation services across multiple campuses or even integrate with nearby public transport systems for a broader commuting solution</a:t>
            </a:r>
            <a:r>
              <a:rPr lang="en-US" dirty="0"/>
              <a:t>.</a:t>
            </a:r>
          </a:p>
          <a:p>
            <a:pPr marL="0" indent="0">
              <a:lnSpc>
                <a:spcPct val="100000"/>
              </a:lnSpc>
              <a:buNone/>
            </a:pPr>
            <a:endParaRPr lang="en-IN" sz="2000" dirty="0"/>
          </a:p>
        </p:txBody>
      </p:sp>
      <p:pic>
        <p:nvPicPr>
          <p:cNvPr id="4" name="object 4">
            <a:extLst>
              <a:ext uri="{FF2B5EF4-FFF2-40B4-BE49-F238E27FC236}">
                <a16:creationId xmlns:a16="http://schemas.microsoft.com/office/drawing/2014/main" id="{AE70C915-1BB7-1AD1-514E-E0C95BF3F9DD}"/>
              </a:ext>
            </a:extLst>
          </p:cNvPr>
          <p:cNvPicPr/>
          <p:nvPr/>
        </p:nvPicPr>
        <p:blipFill>
          <a:blip r:embed="rId3" cstate="print"/>
          <a:stretch>
            <a:fillRect/>
          </a:stretch>
        </p:blipFill>
        <p:spPr>
          <a:xfrm>
            <a:off x="723112" y="230188"/>
            <a:ext cx="1103582" cy="1342897"/>
          </a:xfrm>
          <a:prstGeom prst="rect">
            <a:avLst/>
          </a:prstGeom>
        </p:spPr>
      </p:pic>
      <p:pic>
        <p:nvPicPr>
          <p:cNvPr id="5" name="object 5">
            <a:extLst>
              <a:ext uri="{FF2B5EF4-FFF2-40B4-BE49-F238E27FC236}">
                <a16:creationId xmlns:a16="http://schemas.microsoft.com/office/drawing/2014/main" id="{F3022DCD-283B-4C6D-69C3-E0E5A0183085}"/>
              </a:ext>
            </a:extLst>
          </p:cNvPr>
          <p:cNvPicPr/>
          <p:nvPr/>
        </p:nvPicPr>
        <p:blipFill>
          <a:blip r:embed="rId4" cstate="print"/>
          <a:stretch>
            <a:fillRect/>
          </a:stretch>
        </p:blipFill>
        <p:spPr>
          <a:xfrm>
            <a:off x="10514203" y="191643"/>
            <a:ext cx="1520062" cy="1342897"/>
          </a:xfrm>
          <a:prstGeom prst="rect">
            <a:avLst/>
          </a:prstGeom>
        </p:spPr>
      </p:pic>
    </p:spTree>
    <p:extLst>
      <p:ext uri="{BB962C8B-B14F-4D97-AF65-F5344CB8AC3E}">
        <p14:creationId xmlns:p14="http://schemas.microsoft.com/office/powerpoint/2010/main" val="3822186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91395-70C5-E997-B970-CA7B8A725F48}"/>
              </a:ext>
            </a:extLst>
          </p:cNvPr>
          <p:cNvSpPr>
            <a:spLocks noGrp="1"/>
          </p:cNvSpPr>
          <p:nvPr>
            <p:ph type="title"/>
          </p:nvPr>
        </p:nvSpPr>
        <p:spPr>
          <a:xfrm>
            <a:off x="795809" y="812291"/>
            <a:ext cx="10515600" cy="1325563"/>
          </a:xfrm>
        </p:spPr>
        <p:txBody>
          <a:bodyPr/>
          <a:lstStyle/>
          <a:p>
            <a:pPr algn="ctr"/>
            <a:r>
              <a:rPr lang="en-IN" b="1" dirty="0">
                <a:latin typeface="Times New Roman" panose="02020603050405020304" pitchFamily="18" charset="0"/>
                <a:cs typeface="Times New Roman" panose="02020603050405020304" pitchFamily="18" charset="0"/>
              </a:rPr>
              <a:t>Conclusion</a:t>
            </a:r>
          </a:p>
        </p:txBody>
      </p:sp>
      <p:sp>
        <p:nvSpPr>
          <p:cNvPr id="3" name="Content Placeholder 2">
            <a:extLst>
              <a:ext uri="{FF2B5EF4-FFF2-40B4-BE49-F238E27FC236}">
                <a16:creationId xmlns:a16="http://schemas.microsoft.com/office/drawing/2014/main" id="{B765E766-EB53-E10F-E31C-17E2BD4765B7}"/>
              </a:ext>
            </a:extLst>
          </p:cNvPr>
          <p:cNvSpPr>
            <a:spLocks noGrp="1"/>
          </p:cNvSpPr>
          <p:nvPr>
            <p:ph idx="1"/>
          </p:nvPr>
        </p:nvSpPr>
        <p:spPr>
          <a:xfrm>
            <a:off x="998220" y="1603777"/>
            <a:ext cx="10195560" cy="4351338"/>
          </a:xfrm>
        </p:spPr>
        <p:txBody>
          <a:bodyPr>
            <a:noAutofit/>
          </a:bodyPr>
          <a:lstStyle/>
          <a:p>
            <a:pPr>
              <a:lnSpc>
                <a:spcPct val="100000"/>
              </a:lnSpc>
              <a:buNone/>
            </a:pPr>
            <a:r>
              <a:rPr lang="en-US" sz="2000" dirty="0"/>
              <a:t>    </a:t>
            </a:r>
          </a:p>
          <a:p>
            <a:pPr>
              <a:lnSpc>
                <a:spcPct val="100000"/>
              </a:lnSpc>
              <a:buNone/>
            </a:pPr>
            <a:endParaRPr lang="en-US" sz="2000" dirty="0"/>
          </a:p>
          <a:p>
            <a:pPr>
              <a:lnSpc>
                <a:spcPct val="100000"/>
              </a:lnSpc>
              <a:buNone/>
            </a:pPr>
            <a:r>
              <a:rPr lang="en-US" sz="2000" dirty="0"/>
              <a:t>     The </a:t>
            </a:r>
            <a:r>
              <a:rPr lang="en-US" sz="2000" b="1" dirty="0"/>
              <a:t>Real-time Bus Tracking System for Campus Transport</a:t>
            </a:r>
            <a:r>
              <a:rPr lang="en-US" sz="2000" dirty="0"/>
              <a:t> effectively enhances the efficiency and convenience of campus transportation by providing real-time bus location tracking, estimated arrival times, and live updates to users. This system improves commuter experience, reduces wait times, and ensures better planning for students, faculty, and staff. Despite challenges such as GPS signal limitations and internet dependency, the system demonstrates significant potential for enhancing campus mobility. With future advancements in AI optimization and broader integrations, this system can evolve into a key component of a smart campus infrastructure.</a:t>
            </a:r>
            <a:endParaRPr lang="en-US" sz="2000" dirty="0">
              <a:latin typeface="Times New Roman" panose="02020603050405020304" pitchFamily="18" charset="0"/>
              <a:cs typeface="Times New Roman" panose="02020603050405020304" pitchFamily="18" charset="0"/>
            </a:endParaRPr>
          </a:p>
        </p:txBody>
      </p:sp>
      <p:pic>
        <p:nvPicPr>
          <p:cNvPr id="4" name="object 4">
            <a:extLst>
              <a:ext uri="{FF2B5EF4-FFF2-40B4-BE49-F238E27FC236}">
                <a16:creationId xmlns:a16="http://schemas.microsoft.com/office/drawing/2014/main" id="{582CB3A6-4827-669E-1D27-F7F0E3A84691}"/>
              </a:ext>
            </a:extLst>
          </p:cNvPr>
          <p:cNvPicPr/>
          <p:nvPr/>
        </p:nvPicPr>
        <p:blipFill>
          <a:blip r:embed="rId2" cstate="print"/>
          <a:stretch>
            <a:fillRect/>
          </a:stretch>
        </p:blipFill>
        <p:spPr>
          <a:xfrm>
            <a:off x="489432" y="140843"/>
            <a:ext cx="1103582" cy="1342897"/>
          </a:xfrm>
          <a:prstGeom prst="rect">
            <a:avLst/>
          </a:prstGeom>
        </p:spPr>
      </p:pic>
      <p:pic>
        <p:nvPicPr>
          <p:cNvPr id="5" name="object 5">
            <a:extLst>
              <a:ext uri="{FF2B5EF4-FFF2-40B4-BE49-F238E27FC236}">
                <a16:creationId xmlns:a16="http://schemas.microsoft.com/office/drawing/2014/main" id="{443D68CD-31C9-A0C7-188A-B7411725A2A4}"/>
              </a:ext>
            </a:extLst>
          </p:cNvPr>
          <p:cNvPicPr/>
          <p:nvPr/>
        </p:nvPicPr>
        <p:blipFill>
          <a:blip r:embed="rId3" cstate="print"/>
          <a:stretch>
            <a:fillRect/>
          </a:stretch>
        </p:blipFill>
        <p:spPr>
          <a:xfrm>
            <a:off x="10514203" y="191643"/>
            <a:ext cx="1520062" cy="1342897"/>
          </a:xfrm>
          <a:prstGeom prst="rect">
            <a:avLst/>
          </a:prstGeom>
        </p:spPr>
      </p:pic>
    </p:spTree>
    <p:extLst>
      <p:ext uri="{BB962C8B-B14F-4D97-AF65-F5344CB8AC3E}">
        <p14:creationId xmlns:p14="http://schemas.microsoft.com/office/powerpoint/2010/main" val="632231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6A3DFB-064A-DFC7-84C3-527F24B665C5}"/>
              </a:ext>
            </a:extLst>
          </p:cNvPr>
          <p:cNvSpPr>
            <a:spLocks noGrp="1"/>
          </p:cNvSpPr>
          <p:nvPr>
            <p:ph type="title"/>
          </p:nvPr>
        </p:nvSpPr>
        <p:spPr/>
        <p:txBody>
          <a:bodyPr/>
          <a:lstStyle/>
          <a:p>
            <a:pPr algn="ctr"/>
            <a:r>
              <a:rPr lang="en-IN" b="1" spc="-25" dirty="0">
                <a:latin typeface="Times New Roman" panose="02020603050405020304" pitchFamily="18" charset="0"/>
                <a:cs typeface="Times New Roman" panose="02020603050405020304" pitchFamily="18" charset="0"/>
              </a:rPr>
              <a:t>References</a:t>
            </a:r>
            <a:endParaRPr lang="en-IN" b="1" dirty="0"/>
          </a:p>
        </p:txBody>
      </p:sp>
      <p:pic>
        <p:nvPicPr>
          <p:cNvPr id="6" name="object 4">
            <a:extLst>
              <a:ext uri="{FF2B5EF4-FFF2-40B4-BE49-F238E27FC236}">
                <a16:creationId xmlns:a16="http://schemas.microsoft.com/office/drawing/2014/main" id="{ED0C3E16-AEB7-0EA0-4780-DCA5FE0CA676}"/>
              </a:ext>
            </a:extLst>
          </p:cNvPr>
          <p:cNvPicPr/>
          <p:nvPr/>
        </p:nvPicPr>
        <p:blipFill>
          <a:blip r:embed="rId3" cstate="print"/>
          <a:stretch>
            <a:fillRect/>
          </a:stretch>
        </p:blipFill>
        <p:spPr>
          <a:xfrm>
            <a:off x="505937" y="195771"/>
            <a:ext cx="1103582" cy="1342897"/>
          </a:xfrm>
          <a:prstGeom prst="rect">
            <a:avLst/>
          </a:prstGeom>
        </p:spPr>
      </p:pic>
      <p:pic>
        <p:nvPicPr>
          <p:cNvPr id="7" name="object 5">
            <a:extLst>
              <a:ext uri="{FF2B5EF4-FFF2-40B4-BE49-F238E27FC236}">
                <a16:creationId xmlns:a16="http://schemas.microsoft.com/office/drawing/2014/main" id="{A2BD03DA-F6E7-C617-1731-FB7547643B8F}"/>
              </a:ext>
            </a:extLst>
          </p:cNvPr>
          <p:cNvPicPr/>
          <p:nvPr/>
        </p:nvPicPr>
        <p:blipFill>
          <a:blip r:embed="rId4" cstate="print"/>
          <a:stretch>
            <a:fillRect/>
          </a:stretch>
        </p:blipFill>
        <p:spPr>
          <a:xfrm>
            <a:off x="10514203" y="191643"/>
            <a:ext cx="1520062" cy="1342897"/>
          </a:xfrm>
          <a:prstGeom prst="rect">
            <a:avLst/>
          </a:prstGeom>
        </p:spPr>
      </p:pic>
      <p:sp>
        <p:nvSpPr>
          <p:cNvPr id="5" name="Rectangle 2">
            <a:extLst>
              <a:ext uri="{FF2B5EF4-FFF2-40B4-BE49-F238E27FC236}">
                <a16:creationId xmlns:a16="http://schemas.microsoft.com/office/drawing/2014/main" id="{7D7921EC-7BE3-F299-CA0B-3C52937D855E}"/>
              </a:ext>
            </a:extLst>
          </p:cNvPr>
          <p:cNvSpPr>
            <a:spLocks noGrp="1" noChangeArrowheads="1"/>
          </p:cNvSpPr>
          <p:nvPr>
            <p:ph idx="1"/>
          </p:nvPr>
        </p:nvSpPr>
        <p:spPr bwMode="auto">
          <a:xfrm>
            <a:off x="505937" y="2337601"/>
            <a:ext cx="11528328" cy="36933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Mishra, A., &amp; Panda, G. (2018).</a:t>
            </a:r>
            <a:r>
              <a:rPr kumimoji="0" lang="en-US" altLang="en-US" sz="1800" b="0" i="0" u="none" strike="noStrike" cap="none" normalizeH="0" baseline="0">
                <a:ln>
                  <a:noFill/>
                </a:ln>
                <a:solidFill>
                  <a:schemeClr val="tx1"/>
                </a:solidFill>
                <a:effectLst/>
                <a:latin typeface="Arial" panose="020B0604020202020204" pitchFamily="34" charset="0"/>
              </a:rPr>
              <a:t> "Development of an Intelligent Bus Tracking System Using GPS and GPRS." </a:t>
            </a:r>
            <a:r>
              <a:rPr kumimoji="0" lang="en-US" altLang="en-US" sz="1800" b="0" i="1" u="none" strike="noStrike" cap="none" normalizeH="0" baseline="0">
                <a:ln>
                  <a:noFill/>
                </a:ln>
                <a:solidFill>
                  <a:schemeClr val="tx1"/>
                </a:solidFill>
                <a:effectLst/>
                <a:latin typeface="Arial" panose="020B0604020202020204" pitchFamily="34" charset="0"/>
              </a:rPr>
              <a:t>International Journal of Engineering and Technology, 7(4), 356-363.</a:t>
            </a:r>
            <a:endParaRPr kumimoji="0" lang="en-US" altLang="en-US" sz="1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This paper discusses the development of GPS-based bus tracking systems, focusing on the use of GPRS for real-time communication, similar to systems implemented on campuses.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Ramaiah, V., &amp; Priya, V. (2019).</a:t>
            </a:r>
            <a:r>
              <a:rPr kumimoji="0" lang="en-US" altLang="en-US" sz="1800" b="0" i="0" u="none" strike="noStrike" cap="none" normalizeH="0" baseline="0">
                <a:ln>
                  <a:noFill/>
                </a:ln>
                <a:solidFill>
                  <a:schemeClr val="tx1"/>
                </a:solidFill>
                <a:effectLst/>
                <a:latin typeface="Arial" panose="020B0604020202020204" pitchFamily="34" charset="0"/>
              </a:rPr>
              <a:t> "Smart Campus Bus Tracking System." </a:t>
            </a:r>
            <a:r>
              <a:rPr kumimoji="0" lang="en-US" altLang="en-US" sz="1800" b="0" i="1" u="none" strike="noStrike" cap="none" normalizeH="0" baseline="0">
                <a:ln>
                  <a:noFill/>
                </a:ln>
                <a:solidFill>
                  <a:schemeClr val="tx1"/>
                </a:solidFill>
                <a:effectLst/>
                <a:latin typeface="Arial" panose="020B0604020202020204" pitchFamily="34" charset="0"/>
              </a:rPr>
              <a:t>International Journal of Computer Applications, 178(14), 22-28.</a:t>
            </a:r>
            <a:endParaRPr kumimoji="0" lang="en-US" altLang="en-US" sz="1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This article explores the integration of smart technologies like GPS for bus tracking on university campuses and the challenges faced in real-time data processing.</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a:ln>
                  <a:noFill/>
                </a:ln>
                <a:solidFill>
                  <a:schemeClr val="tx1"/>
                </a:solidFill>
                <a:effectLst/>
                <a:latin typeface="Arial" panose="020B0604020202020204" pitchFamily="34" charset="0"/>
              </a:rPr>
              <a:t>Tariq, M. A., &amp; Zhang, J. (2020).</a:t>
            </a:r>
            <a:r>
              <a:rPr kumimoji="0" lang="en-US" altLang="en-US" sz="1800" b="0" i="0" u="none" strike="noStrike" cap="none" normalizeH="0" baseline="0">
                <a:ln>
                  <a:noFill/>
                </a:ln>
                <a:solidFill>
                  <a:schemeClr val="tx1"/>
                </a:solidFill>
                <a:effectLst/>
                <a:latin typeface="Arial" panose="020B0604020202020204" pitchFamily="34" charset="0"/>
              </a:rPr>
              <a:t> "Design and Implementation of a Real-time Bus Tracking System for Campus Transportation." </a:t>
            </a:r>
            <a:r>
              <a:rPr kumimoji="0" lang="en-US" altLang="en-US" sz="1800" b="0" i="1" u="none" strike="noStrike" cap="none" normalizeH="0" baseline="0">
                <a:ln>
                  <a:noFill/>
                </a:ln>
                <a:solidFill>
                  <a:schemeClr val="tx1"/>
                </a:solidFill>
                <a:effectLst/>
                <a:latin typeface="Arial" panose="020B0604020202020204" pitchFamily="34" charset="0"/>
              </a:rPr>
              <a:t>International Journal of Mobile Computing and Multimedia Communications, 12(3), 40-56.</a:t>
            </a:r>
            <a:endParaRPr kumimoji="0" lang="en-US" altLang="en-US" sz="1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This research focuses on a system designed specifically for campus transport, using real-time data to improve commuter satisfaction and system efficiency.</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5234109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700011-E8EA-59A0-96D1-0F3B24015EF1}"/>
              </a:ext>
            </a:extLst>
          </p:cNvPr>
          <p:cNvSpPr>
            <a:spLocks noGrp="1"/>
          </p:cNvSpPr>
          <p:nvPr>
            <p:ph type="title"/>
          </p:nvPr>
        </p:nvSpPr>
        <p:spPr>
          <a:xfrm>
            <a:off x="758634" y="2550477"/>
            <a:ext cx="10515600" cy="1325563"/>
          </a:xfrm>
        </p:spPr>
        <p:txBody>
          <a:bodyPr/>
          <a:lstStyle/>
          <a:p>
            <a:pPr algn="ctr"/>
            <a:r>
              <a:rPr lang="en-IN" sz="4400" dirty="0">
                <a:latin typeface="Times New Roman" panose="02020603050405020304" pitchFamily="18" charset="0"/>
                <a:cs typeface="Times New Roman" panose="02020603050405020304" pitchFamily="18" charset="0"/>
              </a:rPr>
              <a:t>Thank</a:t>
            </a:r>
            <a:r>
              <a:rPr lang="en-IN" sz="4400" spc="-100" dirty="0">
                <a:latin typeface="Times New Roman" panose="02020603050405020304" pitchFamily="18" charset="0"/>
                <a:cs typeface="Times New Roman" panose="02020603050405020304" pitchFamily="18" charset="0"/>
              </a:rPr>
              <a:t> </a:t>
            </a:r>
            <a:r>
              <a:rPr lang="en-IN" sz="4400" spc="-50" dirty="0">
                <a:latin typeface="Times New Roman" panose="02020603050405020304" pitchFamily="18" charset="0"/>
                <a:cs typeface="Times New Roman" panose="02020603050405020304" pitchFamily="18" charset="0"/>
              </a:rPr>
              <a:t>You!!!</a:t>
            </a:r>
            <a:endParaRPr lang="en-IN" dirty="0"/>
          </a:p>
        </p:txBody>
      </p:sp>
      <p:pic>
        <p:nvPicPr>
          <p:cNvPr id="4" name="object 4">
            <a:extLst>
              <a:ext uri="{FF2B5EF4-FFF2-40B4-BE49-F238E27FC236}">
                <a16:creationId xmlns:a16="http://schemas.microsoft.com/office/drawing/2014/main" id="{D7CFA39F-497C-4BE0-E98E-AC55AE34FC34}"/>
              </a:ext>
            </a:extLst>
          </p:cNvPr>
          <p:cNvPicPr/>
          <p:nvPr/>
        </p:nvPicPr>
        <p:blipFill>
          <a:blip r:embed="rId2" cstate="print"/>
          <a:stretch>
            <a:fillRect/>
          </a:stretch>
        </p:blipFill>
        <p:spPr>
          <a:xfrm>
            <a:off x="611352" y="252603"/>
            <a:ext cx="1103582" cy="1342897"/>
          </a:xfrm>
          <a:prstGeom prst="rect">
            <a:avLst/>
          </a:prstGeom>
        </p:spPr>
      </p:pic>
      <p:pic>
        <p:nvPicPr>
          <p:cNvPr id="5" name="object 5">
            <a:extLst>
              <a:ext uri="{FF2B5EF4-FFF2-40B4-BE49-F238E27FC236}">
                <a16:creationId xmlns:a16="http://schemas.microsoft.com/office/drawing/2014/main" id="{B0E4329D-8289-E626-6777-251265989E9B}"/>
              </a:ext>
            </a:extLst>
          </p:cNvPr>
          <p:cNvPicPr/>
          <p:nvPr/>
        </p:nvPicPr>
        <p:blipFill>
          <a:blip r:embed="rId3" cstate="print"/>
          <a:stretch>
            <a:fillRect/>
          </a:stretch>
        </p:blipFill>
        <p:spPr>
          <a:xfrm>
            <a:off x="10514203" y="191643"/>
            <a:ext cx="1520062" cy="1342897"/>
          </a:xfrm>
          <a:prstGeom prst="rect">
            <a:avLst/>
          </a:prstGeom>
        </p:spPr>
      </p:pic>
    </p:spTree>
    <p:extLst>
      <p:ext uri="{BB962C8B-B14F-4D97-AF65-F5344CB8AC3E}">
        <p14:creationId xmlns:p14="http://schemas.microsoft.com/office/powerpoint/2010/main" val="23841963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154</TotalTime>
  <Words>1166</Words>
  <Application>Microsoft Office PowerPoint</Application>
  <PresentationFormat>Widescreen</PresentationFormat>
  <Paragraphs>94</Paragraphs>
  <Slides>11</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Calibri</vt:lpstr>
      <vt:lpstr>Calibri Light</vt:lpstr>
      <vt:lpstr>Times New Roman</vt:lpstr>
      <vt:lpstr>Office Theme</vt:lpstr>
      <vt:lpstr>Real-time Bus Tracking System for Campus Transport</vt:lpstr>
      <vt:lpstr>Introduction</vt:lpstr>
      <vt:lpstr>Objectives</vt:lpstr>
      <vt:lpstr>Methodology</vt:lpstr>
      <vt:lpstr>Implementation</vt:lpstr>
      <vt:lpstr>Results and Discussion</vt:lpstr>
      <vt:lpstr>Challenges and Limitations</vt:lpstr>
      <vt:lpstr>Future Scope</vt:lpstr>
      <vt:lpstr>Conclusion</vt:lpstr>
      <vt:lpstr>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Divyadharshini v</dc:creator>
  <cp:lastModifiedBy>Sahana S</cp:lastModifiedBy>
  <cp:revision>4</cp:revision>
  <dcterms:created xsi:type="dcterms:W3CDTF">2025-03-19T05:54:44Z</dcterms:created>
  <dcterms:modified xsi:type="dcterms:W3CDTF">2025-05-13T07:37:08Z</dcterms:modified>
</cp:coreProperties>
</file>